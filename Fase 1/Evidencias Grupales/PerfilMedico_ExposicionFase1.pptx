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gr19OWb7XXeKAXNYXpx34ImYIbO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4CAD42-E788-4672-9A14-52AAFFE15D3D}">
  <a:tblStyle styleId="{554CAD42-E788-4672-9A14-52AAFFE15D3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customschemas.google.com/relationships/presentationmetadata" Target="meta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" name="Google Shape;6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6" name="Google Shape;21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8" name="Google Shape;24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" name="Google Shape;27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2" name="Google Shape;302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4" name="Google Shape;344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9" name="Google Shape;36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7" name="Google Shape;407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3D42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3D4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9692640" y="-1280160"/>
            <a:ext cx="5029200" cy="5029200"/>
          </a:xfrm>
          <a:prstGeom prst="ellipse">
            <a:avLst/>
          </a:prstGeom>
          <a:solidFill>
            <a:srgbClr val="028090">
              <a:alpha val="3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02C39A">
              <a:alpha val="2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 txBox="1"/>
          <p:nvPr/>
        </p:nvSpPr>
        <p:spPr>
          <a:xfrm>
            <a:off x="822960" y="1417320"/>
            <a:ext cx="8686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89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A896"/>
                </a:solidFill>
                <a:latin typeface="Calibri"/>
                <a:ea typeface="Calibri"/>
                <a:cs typeface="Calibri"/>
                <a:sym typeface="Calibri"/>
              </a:rPr>
              <a:t>CAPSTONE · PTY4614 · Fase 1 — Definición del Proyecto APT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 txBox="1"/>
          <p:nvPr/>
        </p:nvSpPr>
        <p:spPr>
          <a:xfrm>
            <a:off x="777240" y="1828800"/>
            <a:ext cx="9601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Cambria"/>
              <a:buNone/>
            </a:pPr>
            <a:r>
              <a:rPr b="1" i="0" lang="en-US" sz="6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Perfil Médico+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 txBox="1"/>
          <p:nvPr/>
        </p:nvSpPr>
        <p:spPr>
          <a:xfrm>
            <a:off x="822960" y="30632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AF9"/>
              </a:buClr>
              <a:buSzPts val="2000"/>
              <a:buFont typeface="Calibri"/>
              <a:buNone/>
            </a:pPr>
            <a:r>
              <a:rPr b="0" i="1" lang="en-US" sz="2000" u="none" cap="none" strike="noStrike">
                <a:solidFill>
                  <a:srgbClr val="F4FAF9"/>
                </a:solidFill>
                <a:latin typeface="Calibri"/>
                <a:ea typeface="Calibri"/>
                <a:cs typeface="Calibri"/>
                <a:sym typeface="Calibri"/>
              </a:rPr>
              <a:t>Gestión de salud personal y familiar, centralizada y acompañada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 txBox="1"/>
          <p:nvPr/>
        </p:nvSpPr>
        <p:spPr>
          <a:xfrm>
            <a:off x="822960" y="521208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C6C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FC6C6"/>
                </a:solidFill>
                <a:latin typeface="Calibri"/>
                <a:ea typeface="Calibri"/>
                <a:cs typeface="Calibri"/>
                <a:sym typeface="Calibri"/>
              </a:rPr>
              <a:t>Capstone_005D · Grupo 7 · Ingeniería en Informática · Sede Plaza Oeste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 txBox="1"/>
          <p:nvPr/>
        </p:nvSpPr>
        <p:spPr>
          <a:xfrm>
            <a:off x="822960" y="55778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Benjamín Leiva  ·  Sergio Ocares  ·  Matías Pizarro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AF9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"/>
          <p:cNvSpPr txBox="1"/>
          <p:nvPr/>
        </p:nvSpPr>
        <p:spPr>
          <a:xfrm>
            <a:off x="548640" y="457200"/>
            <a:ext cx="54864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3D42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0B3D42"/>
                </a:solidFill>
                <a:latin typeface="Cambria"/>
                <a:ea typeface="Cambria"/>
                <a:cs typeface="Cambria"/>
                <a:sym typeface="Cambria"/>
              </a:rPr>
              <a:t>Agenda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2"/>
          <p:cNvSpPr txBox="1"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 txBox="1"/>
          <p:nvPr/>
        </p:nvSpPr>
        <p:spPr>
          <a:xfrm>
            <a:off x="1234440" y="1362456"/>
            <a:ext cx="4617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El problema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 txBox="1"/>
          <p:nvPr/>
        </p:nvSpPr>
        <p:spPr>
          <a:xfrm>
            <a:off x="1234440" y="1728216"/>
            <a:ext cx="4617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Qué situación aborda el proyecto y a quién afecta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548640" y="2587752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2"/>
          <p:cNvSpPr txBox="1"/>
          <p:nvPr/>
        </p:nvSpPr>
        <p:spPr>
          <a:xfrm>
            <a:off x="548640" y="2587752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 txBox="1"/>
          <p:nvPr/>
        </p:nvSpPr>
        <p:spPr>
          <a:xfrm>
            <a:off x="1234440" y="2532888"/>
            <a:ext cx="4617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La solución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 txBox="1"/>
          <p:nvPr/>
        </p:nvSpPr>
        <p:spPr>
          <a:xfrm>
            <a:off x="1234440" y="2898648"/>
            <a:ext cx="4617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Qué es Perfil Médico+ y cómo funciona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548640" y="3758184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2"/>
          <p:cNvSpPr txBox="1"/>
          <p:nvPr/>
        </p:nvSpPr>
        <p:spPr>
          <a:xfrm>
            <a:off x="548640" y="3758184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 txBox="1"/>
          <p:nvPr/>
        </p:nvSpPr>
        <p:spPr>
          <a:xfrm>
            <a:off x="1234440" y="3703320"/>
            <a:ext cx="4617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Encaje con el perfil de egreso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 txBox="1"/>
          <p:nvPr/>
        </p:nvSpPr>
        <p:spPr>
          <a:xfrm>
            <a:off x="1234440" y="4069080"/>
            <a:ext cx="4617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Competencias e intereses profesionales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548640" y="4928616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2"/>
          <p:cNvSpPr txBox="1"/>
          <p:nvPr/>
        </p:nvSpPr>
        <p:spPr>
          <a:xfrm>
            <a:off x="548640" y="4928616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 txBox="1"/>
          <p:nvPr/>
        </p:nvSpPr>
        <p:spPr>
          <a:xfrm>
            <a:off x="1234440" y="4873752"/>
            <a:ext cx="4617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Objetivos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 txBox="1"/>
          <p:nvPr/>
        </p:nvSpPr>
        <p:spPr>
          <a:xfrm>
            <a:off x="1234440" y="5239512"/>
            <a:ext cx="4617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General y específicos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6355080" y="1417320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2"/>
          <p:cNvSpPr txBox="1"/>
          <p:nvPr/>
        </p:nvSpPr>
        <p:spPr>
          <a:xfrm>
            <a:off x="6355080" y="141732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 txBox="1"/>
          <p:nvPr/>
        </p:nvSpPr>
        <p:spPr>
          <a:xfrm>
            <a:off x="7040880" y="1362456"/>
            <a:ext cx="4617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Arquitectura y tecnología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 txBox="1"/>
          <p:nvPr/>
        </p:nvSpPr>
        <p:spPr>
          <a:xfrm>
            <a:off x="7040880" y="1728216"/>
            <a:ext cx="4617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Stack y roles del equipo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6355080" y="2587752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2"/>
          <p:cNvSpPr txBox="1"/>
          <p:nvPr/>
        </p:nvSpPr>
        <p:spPr>
          <a:xfrm>
            <a:off x="6355080" y="2587752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 txBox="1"/>
          <p:nvPr/>
        </p:nvSpPr>
        <p:spPr>
          <a:xfrm>
            <a:off x="7040880" y="2532888"/>
            <a:ext cx="4617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Plan de trabajo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 txBox="1"/>
          <p:nvPr/>
        </p:nvSpPr>
        <p:spPr>
          <a:xfrm>
            <a:off x="7040880" y="2898648"/>
            <a:ext cx="4617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Metodología, cronograma y evidencias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6355080" y="3758184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2"/>
          <p:cNvSpPr txBox="1"/>
          <p:nvPr/>
        </p:nvSpPr>
        <p:spPr>
          <a:xfrm>
            <a:off x="6355080" y="3758184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2"/>
          <p:cNvSpPr txBox="1"/>
          <p:nvPr/>
        </p:nvSpPr>
        <p:spPr>
          <a:xfrm>
            <a:off x="7040880" y="3703320"/>
            <a:ext cx="4617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Factibilidad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 txBox="1"/>
          <p:nvPr/>
        </p:nvSpPr>
        <p:spPr>
          <a:xfrm>
            <a:off x="7040880" y="4069080"/>
            <a:ext cx="4617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Tiempo, recursos y riesgos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Perfil Médico+  ·  Capstone_005D · Grupo 7  ·  PTY4614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AF9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"/>
          <p:cNvSpPr txBox="1"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3D4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B3D42"/>
                </a:solidFill>
                <a:latin typeface="Cambria"/>
                <a:ea typeface="Cambria"/>
                <a:cs typeface="Cambria"/>
                <a:sym typeface="Cambria"/>
              </a:rPr>
              <a:t>El problema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548640" y="1371600"/>
            <a:ext cx="6492240" cy="4754880"/>
          </a:xfrm>
          <a:prstGeom prst="roundRect">
            <a:avLst>
              <a:gd fmla="val 1923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1F3A3C">
                <a:alpha val="1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3"/>
          <p:cNvSpPr txBox="1"/>
          <p:nvPr/>
        </p:nvSpPr>
        <p:spPr>
          <a:xfrm>
            <a:off x="868680" y="1600200"/>
            <a:ext cx="5852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Salud gestionada a pedazos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 txBox="1"/>
          <p:nvPr/>
        </p:nvSpPr>
        <p:spPr>
          <a:xfrm>
            <a:off x="868680" y="2057400"/>
            <a:ext cx="585216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Muchas familias administran horas médicas, medicamentos, tratamientos y controles de salud repartidos entre papeles, fotos de recetas, calendarios, WhatsApp y alarmas del teléfono.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Esta dispersión genera desorganización, pérdida de información y falta de seguimiento — especialmente crítico en adultos mayores, personas con enfermedades crónicas y quienes requieren apoyo permanente.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9" name="Google Shape;69;p3"/>
          <p:cNvCxnSpPr/>
          <p:nvPr/>
        </p:nvCxnSpPr>
        <p:spPr>
          <a:xfrm>
            <a:off x="868680" y="4434840"/>
            <a:ext cx="5852160" cy="0"/>
          </a:xfrm>
          <a:prstGeom prst="straightConnector1">
            <a:avLst/>
          </a:prstGeom>
          <a:noFill/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" name="Google Shape;70;p3"/>
          <p:cNvSpPr txBox="1"/>
          <p:nvPr/>
        </p:nvSpPr>
        <p:spPr>
          <a:xfrm>
            <a:off x="868680" y="4572000"/>
            <a:ext cx="5852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Contexto: familias de la Región Metropolitana de Chile.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 txBox="1"/>
          <p:nvPr/>
        </p:nvSpPr>
        <p:spPr>
          <a:xfrm>
            <a:off x="868680" y="4892040"/>
            <a:ext cx="58521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A quién impacta: adultos mayores · pacientes crónicos · niños · sus cuidadores y familiares.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7315200" y="1371600"/>
            <a:ext cx="4343400" cy="4754880"/>
          </a:xfrm>
          <a:prstGeom prst="roundRect">
            <a:avLst>
              <a:gd fmla="val 2105" name="adj"/>
            </a:avLst>
          </a:prstGeom>
          <a:solidFill>
            <a:srgbClr val="0B3D4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3"/>
          <p:cNvSpPr txBox="1"/>
          <p:nvPr/>
        </p:nvSpPr>
        <p:spPr>
          <a:xfrm>
            <a:off x="7635240" y="1645920"/>
            <a:ext cx="3749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896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0A896"/>
                </a:solidFill>
                <a:latin typeface="Calibri"/>
                <a:ea typeface="Calibri"/>
                <a:cs typeface="Calibri"/>
                <a:sym typeface="Calibri"/>
              </a:rPr>
              <a:t>¿Por qué importa?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 txBox="1"/>
          <p:nvPr/>
        </p:nvSpPr>
        <p:spPr>
          <a:xfrm>
            <a:off x="7635240" y="2148840"/>
            <a:ext cx="3749040" cy="3566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Char char="▪"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Riesgo real de omitir medicamentos o controles médicos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Char char="▪"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Cuidadores no siempre pueden estar físicamente presentes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Char char="▪"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 existe una fuente única de verdad sobre el estado de salud de la persona a cargo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Perfil Médico+  ·  Capstone_005D · Grupo 7  ·  PTY4614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AF9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4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3D4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B3D42"/>
                </a:solidFill>
                <a:latin typeface="Cambria"/>
                <a:ea typeface="Cambria"/>
                <a:cs typeface="Cambria"/>
                <a:sym typeface="Cambria"/>
              </a:rPr>
              <a:t>La solución: Perfil Médico+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 txBox="1"/>
          <p:nvPr/>
        </p:nvSpPr>
        <p:spPr>
          <a:xfrm>
            <a:off x="548640" y="1170432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Plataforma móvil y web que centraliza la salud personal y familiar bajo un modelo de cuenta titular con perfiles dependientes, con seguimiento continuo de actividades de cuidado.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548640" y="2743200"/>
            <a:ext cx="1630680" cy="1371600"/>
          </a:xfrm>
          <a:prstGeom prst="roundRect">
            <a:avLst>
              <a:gd fmla="val 6000" name="adj"/>
            </a:avLst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4"/>
          <p:cNvSpPr txBox="1"/>
          <p:nvPr/>
        </p:nvSpPr>
        <p:spPr>
          <a:xfrm>
            <a:off x="658368" y="283464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 txBox="1"/>
          <p:nvPr/>
        </p:nvSpPr>
        <p:spPr>
          <a:xfrm>
            <a:off x="621792" y="3246120"/>
            <a:ext cx="148437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Planificar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4"/>
          <p:cNvSpPr txBox="1"/>
          <p:nvPr/>
        </p:nvSpPr>
        <p:spPr>
          <a:xfrm>
            <a:off x="2045057" y="3154680"/>
            <a:ext cx="5760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3D42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0B3D42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2435352" y="2743200"/>
            <a:ext cx="1630680" cy="1371600"/>
          </a:xfrm>
          <a:prstGeom prst="roundRect">
            <a:avLst>
              <a:gd fmla="val 6000" name="adj"/>
            </a:avLst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4"/>
          <p:cNvSpPr txBox="1"/>
          <p:nvPr/>
        </p:nvSpPr>
        <p:spPr>
          <a:xfrm>
            <a:off x="2545080" y="283464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 txBox="1"/>
          <p:nvPr/>
        </p:nvSpPr>
        <p:spPr>
          <a:xfrm>
            <a:off x="2508504" y="3246120"/>
            <a:ext cx="148437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Recordar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4"/>
          <p:cNvSpPr txBox="1"/>
          <p:nvPr/>
        </p:nvSpPr>
        <p:spPr>
          <a:xfrm>
            <a:off x="3906007" y="3154705"/>
            <a:ext cx="5760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3D42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0B3D42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4322064" y="2743200"/>
            <a:ext cx="1630680" cy="1371600"/>
          </a:xfrm>
          <a:prstGeom prst="roundRect">
            <a:avLst>
              <a:gd fmla="val 6000" name="adj"/>
            </a:avLst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4"/>
          <p:cNvSpPr txBox="1"/>
          <p:nvPr/>
        </p:nvSpPr>
        <p:spPr>
          <a:xfrm>
            <a:off x="4431792" y="283464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 txBox="1"/>
          <p:nvPr/>
        </p:nvSpPr>
        <p:spPr>
          <a:xfrm>
            <a:off x="4395216" y="3246120"/>
            <a:ext cx="148437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Confirmar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 txBox="1"/>
          <p:nvPr/>
        </p:nvSpPr>
        <p:spPr>
          <a:xfrm>
            <a:off x="5792756" y="3154705"/>
            <a:ext cx="5760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3D42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0B3D42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6208776" y="2743200"/>
            <a:ext cx="1630680" cy="1371600"/>
          </a:xfrm>
          <a:prstGeom prst="roundRect">
            <a:avLst>
              <a:gd fmla="val 6000" name="adj"/>
            </a:avLst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"/>
          <p:cNvSpPr txBox="1"/>
          <p:nvPr/>
        </p:nvSpPr>
        <p:spPr>
          <a:xfrm>
            <a:off x="6318504" y="283464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4"/>
          <p:cNvSpPr txBox="1"/>
          <p:nvPr/>
        </p:nvSpPr>
        <p:spPr>
          <a:xfrm>
            <a:off x="6281928" y="3246120"/>
            <a:ext cx="148437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Monitorear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4"/>
          <p:cNvSpPr txBox="1"/>
          <p:nvPr/>
        </p:nvSpPr>
        <p:spPr>
          <a:xfrm>
            <a:off x="7679431" y="3154680"/>
            <a:ext cx="5760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3D42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0B3D42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8095488" y="2743200"/>
            <a:ext cx="1630680" cy="1371600"/>
          </a:xfrm>
          <a:prstGeom prst="roundRect">
            <a:avLst>
              <a:gd fmla="val 6000" name="adj"/>
            </a:avLst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4"/>
          <p:cNvSpPr txBox="1"/>
          <p:nvPr/>
        </p:nvSpPr>
        <p:spPr>
          <a:xfrm>
            <a:off x="8205216" y="283464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4"/>
          <p:cNvSpPr txBox="1"/>
          <p:nvPr/>
        </p:nvSpPr>
        <p:spPr>
          <a:xfrm>
            <a:off x="8168640" y="3246120"/>
            <a:ext cx="148437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Alertar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4"/>
          <p:cNvSpPr txBox="1"/>
          <p:nvPr/>
        </p:nvSpPr>
        <p:spPr>
          <a:xfrm>
            <a:off x="9566100" y="3108950"/>
            <a:ext cx="5760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3D42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0B3D42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4"/>
          <p:cNvSpPr/>
          <p:nvPr/>
        </p:nvSpPr>
        <p:spPr>
          <a:xfrm>
            <a:off x="9982200" y="2743200"/>
            <a:ext cx="1630680" cy="1371600"/>
          </a:xfrm>
          <a:prstGeom prst="roundRect">
            <a:avLst>
              <a:gd fmla="val 6000" name="adj"/>
            </a:avLst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4"/>
          <p:cNvSpPr txBox="1"/>
          <p:nvPr/>
        </p:nvSpPr>
        <p:spPr>
          <a:xfrm>
            <a:off x="10091928" y="283464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 txBox="1"/>
          <p:nvPr/>
        </p:nvSpPr>
        <p:spPr>
          <a:xfrm>
            <a:off x="10055352" y="3246120"/>
            <a:ext cx="148437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Acompañar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4"/>
          <p:cNvSpPr txBox="1"/>
          <p:nvPr/>
        </p:nvSpPr>
        <p:spPr>
          <a:xfrm>
            <a:off x="548640" y="4526280"/>
            <a:ext cx="107899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350"/>
              <a:buFont typeface="Calibri"/>
              <a:buNone/>
            </a:pPr>
            <a:r>
              <a:rPr b="0" i="1" lang="en-US" sz="13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Cuando una actividad de cuidado (medicamento, comida, hidratación) no se confirma a tiempo, el sistema escala el aviso hasta notificar al cuidador autorizado — sin asumir automáticamente una emergencia.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4"/>
          <p:cNvSpPr/>
          <p:nvPr/>
        </p:nvSpPr>
        <p:spPr>
          <a:xfrm>
            <a:off x="548640" y="5577840"/>
            <a:ext cx="1737360" cy="347472"/>
          </a:xfrm>
          <a:prstGeom prst="roundRect">
            <a:avLst>
              <a:gd fmla="val 50000" name="adj"/>
            </a:avLst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4"/>
          <p:cNvSpPr txBox="1"/>
          <p:nvPr/>
        </p:nvSpPr>
        <p:spPr>
          <a:xfrm>
            <a:off x="548640" y="5577840"/>
            <a:ext cx="17373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 móvil (Flutter)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2514600" y="5577840"/>
            <a:ext cx="1737360" cy="347472"/>
          </a:xfrm>
          <a:prstGeom prst="roundRect">
            <a:avLst>
              <a:gd fmla="val 50000" name="adj"/>
            </a:avLst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"/>
          <p:cNvSpPr txBox="1"/>
          <p:nvPr/>
        </p:nvSpPr>
        <p:spPr>
          <a:xfrm>
            <a:off x="2514600" y="5577840"/>
            <a:ext cx="17373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Backend (FastAPI)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4"/>
          <p:cNvSpPr/>
          <p:nvPr/>
        </p:nvSpPr>
        <p:spPr>
          <a:xfrm>
            <a:off x="4480560" y="5577840"/>
            <a:ext cx="1737360" cy="347472"/>
          </a:xfrm>
          <a:prstGeom prst="roundRect">
            <a:avLst>
              <a:gd fmla="val 50000" name="adj"/>
            </a:avLst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"/>
          <p:cNvSpPr txBox="1"/>
          <p:nvPr/>
        </p:nvSpPr>
        <p:spPr>
          <a:xfrm>
            <a:off x="4480560" y="5577840"/>
            <a:ext cx="17373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Base de datos (PostgreSQL)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4"/>
          <p:cNvSpPr/>
          <p:nvPr/>
        </p:nvSpPr>
        <p:spPr>
          <a:xfrm>
            <a:off x="6518115" y="5577865"/>
            <a:ext cx="1737300" cy="347400"/>
          </a:xfrm>
          <a:prstGeom prst="roundRect">
            <a:avLst>
              <a:gd fmla="val 50000" name="adj"/>
            </a:avLst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4"/>
          <p:cNvSpPr txBox="1"/>
          <p:nvPr/>
        </p:nvSpPr>
        <p:spPr>
          <a:xfrm>
            <a:off x="6518115" y="5577865"/>
            <a:ext cx="17373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Módulo de 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Perfil Médico+  ·  Capstone_005D · Grupo 7  ·  PTY4614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4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AF9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3D42"/>
              </a:buClr>
              <a:buSzPts val="2800"/>
              <a:buFont typeface="Cambria"/>
              <a:buNone/>
            </a:pPr>
            <a:r>
              <a:rPr b="1" i="0" lang="en-US" sz="2800" u="none" cap="none" strike="noStrike">
                <a:solidFill>
                  <a:srgbClr val="0B3D42"/>
                </a:solidFill>
                <a:latin typeface="Cambria"/>
                <a:ea typeface="Cambria"/>
                <a:cs typeface="Cambria"/>
                <a:sym typeface="Cambria"/>
              </a:rPr>
              <a:t>El diferenciador: cuenta titular + perfiles dependientes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 txBox="1"/>
          <p:nvPr/>
        </p:nvSpPr>
        <p:spPr>
          <a:xfrm>
            <a:off x="548640" y="1188720"/>
            <a:ext cx="10881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450"/>
              <a:buFont typeface="Calibri"/>
              <a:buNone/>
            </a:pPr>
            <a:r>
              <a:rPr b="0" i="0" lang="en-US" sz="145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Un usuario titular puede vincular y hacer seguimiento de personas a su cargo — un padre adulto mayor, un hijo — desde una sola cuenta, con permisos configurables sobre qué información puede ver cada cuidador.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5" name="Google Shape;125;p5"/>
          <p:cNvCxnSpPr/>
          <p:nvPr/>
        </p:nvCxnSpPr>
        <p:spPr>
          <a:xfrm>
            <a:off x="914400" y="3108960"/>
            <a:ext cx="2103120" cy="914400"/>
          </a:xfrm>
          <a:prstGeom prst="straightConnector1">
            <a:avLst/>
          </a:prstGeom>
          <a:noFill/>
          <a:ln cap="flat" cmpd="sng" w="25400">
            <a:solidFill>
              <a:srgbClr val="BFDCDA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" name="Google Shape;126;p5"/>
          <p:cNvCxnSpPr/>
          <p:nvPr/>
        </p:nvCxnSpPr>
        <p:spPr>
          <a:xfrm>
            <a:off x="914400" y="4023360"/>
            <a:ext cx="2103120" cy="1463040"/>
          </a:xfrm>
          <a:prstGeom prst="straightConnector1">
            <a:avLst/>
          </a:prstGeom>
          <a:noFill/>
          <a:ln cap="flat" cmpd="sng" w="25400">
            <a:solidFill>
              <a:srgbClr val="BFDCDA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7" name="Google Shape;127;p5"/>
          <p:cNvCxnSpPr/>
          <p:nvPr/>
        </p:nvCxnSpPr>
        <p:spPr>
          <a:xfrm>
            <a:off x="3017520" y="3108960"/>
            <a:ext cx="2286000" cy="914400"/>
          </a:xfrm>
          <a:prstGeom prst="straightConnector1">
            <a:avLst/>
          </a:prstGeom>
          <a:noFill/>
          <a:ln cap="flat" cmpd="sng" w="25400">
            <a:solidFill>
              <a:srgbClr val="BFDCDA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8" name="Google Shape;128;p5"/>
          <p:cNvCxnSpPr/>
          <p:nvPr/>
        </p:nvCxnSpPr>
        <p:spPr>
          <a:xfrm>
            <a:off x="3017520" y="4023360"/>
            <a:ext cx="2286000" cy="1463040"/>
          </a:xfrm>
          <a:prstGeom prst="straightConnector1">
            <a:avLst/>
          </a:prstGeom>
          <a:noFill/>
          <a:ln cap="flat" cmpd="sng" w="25400">
            <a:solidFill>
              <a:srgbClr val="BFDCDA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29" name="Google Shape;129;p5"/>
          <p:cNvSpPr/>
          <p:nvPr/>
        </p:nvSpPr>
        <p:spPr>
          <a:xfrm>
            <a:off x="274320" y="2468880"/>
            <a:ext cx="1280160" cy="128016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5"/>
          <p:cNvSpPr txBox="1"/>
          <p:nvPr/>
        </p:nvSpPr>
        <p:spPr>
          <a:xfrm>
            <a:off x="274320" y="2468880"/>
            <a:ext cx="12801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Perfil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dependiente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(padre AM)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274320" y="4846320"/>
            <a:ext cx="1280160" cy="128016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5"/>
          <p:cNvSpPr txBox="1"/>
          <p:nvPr/>
        </p:nvSpPr>
        <p:spPr>
          <a:xfrm>
            <a:off x="274320" y="4846320"/>
            <a:ext cx="12801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Perfil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dependiente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(hijo)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5"/>
          <p:cNvSpPr/>
          <p:nvPr/>
        </p:nvSpPr>
        <p:spPr>
          <a:xfrm>
            <a:off x="4663440" y="2468880"/>
            <a:ext cx="1280160" cy="128016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5"/>
          <p:cNvSpPr txBox="1"/>
          <p:nvPr/>
        </p:nvSpPr>
        <p:spPr>
          <a:xfrm>
            <a:off x="4663440" y="2468880"/>
            <a:ext cx="12801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Cuidador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invitado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4663440" y="4846320"/>
            <a:ext cx="1280160" cy="128016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5"/>
          <p:cNvSpPr txBox="1"/>
          <p:nvPr/>
        </p:nvSpPr>
        <p:spPr>
          <a:xfrm>
            <a:off x="4663440" y="4846320"/>
            <a:ext cx="12801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Cuidador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invitado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5"/>
          <p:cNvSpPr/>
          <p:nvPr/>
        </p:nvSpPr>
        <p:spPr>
          <a:xfrm>
            <a:off x="2103120" y="3108960"/>
            <a:ext cx="1828800" cy="1828800"/>
          </a:xfrm>
          <a:prstGeom prst="ellipse">
            <a:avLst/>
          </a:prstGeom>
          <a:solidFill>
            <a:srgbClr val="0B3D4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5"/>
          <p:cNvSpPr txBox="1"/>
          <p:nvPr/>
        </p:nvSpPr>
        <p:spPr>
          <a:xfrm>
            <a:off x="2103120" y="3108960"/>
            <a:ext cx="18288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Cuenta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Titular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7315200" y="1737360"/>
            <a:ext cx="4343400" cy="4297680"/>
          </a:xfrm>
          <a:prstGeom prst="roundRect">
            <a:avLst>
              <a:gd fmla="val 2128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1F3A3C">
                <a:alpha val="1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5"/>
          <p:cNvSpPr txBox="1"/>
          <p:nvPr/>
        </p:nvSpPr>
        <p:spPr>
          <a:xfrm>
            <a:off x="7589520" y="1965960"/>
            <a:ext cx="384048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250"/>
              <a:buFont typeface="Calibri"/>
              <a:buChar char="▪"/>
            </a:pPr>
            <a:r>
              <a:rPr b="0" i="0" lang="en-US" sz="12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Un titular administra su propio perfil de salud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400"/>
              </a:spcBef>
              <a:spcAft>
                <a:spcPts val="0"/>
              </a:spcAft>
              <a:buClr>
                <a:srgbClr val="0B2B2E"/>
              </a:buClr>
              <a:buSzPts val="1250"/>
              <a:buFont typeface="Calibri"/>
              <a:buChar char="▪"/>
            </a:pPr>
            <a:r>
              <a:rPr b="0" i="0" lang="en-US" sz="12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Puede crear perfiles dependientes para familiares a su cargo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400"/>
              </a:spcBef>
              <a:spcAft>
                <a:spcPts val="0"/>
              </a:spcAft>
              <a:buClr>
                <a:srgbClr val="0B2B2E"/>
              </a:buClr>
              <a:buSzPts val="1250"/>
              <a:buFont typeface="Calibri"/>
              <a:buChar char="▪"/>
            </a:pPr>
            <a:r>
              <a:rPr b="0" i="0" lang="en-US" sz="12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Registra medicamentos, rutinas de cuidado e indicadores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400"/>
              </a:spcBef>
              <a:spcAft>
                <a:spcPts val="0"/>
              </a:spcAft>
              <a:buClr>
                <a:srgbClr val="0B2B2E"/>
              </a:buClr>
              <a:buSzPts val="1250"/>
              <a:buFont typeface="Calibri"/>
              <a:buChar char="▪"/>
            </a:pPr>
            <a:r>
              <a:rPr b="0" i="0" lang="en-US" sz="12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Invita cuidadores adicionales con permisos configurables por perfil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400"/>
              </a:spcBef>
              <a:spcAft>
                <a:spcPts val="0"/>
              </a:spcAft>
              <a:buClr>
                <a:srgbClr val="0B2B2E"/>
              </a:buClr>
              <a:buSzPts val="1250"/>
              <a:buFont typeface="Calibri"/>
              <a:buChar char="▪"/>
            </a:pPr>
            <a:r>
              <a:rPr b="0" i="0" lang="en-US" sz="12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El sistema confirma actividades y escala alertas solo cuando se requiere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Perfil Médico+  ·  Capstone_005D · Grupo 7  ·  PTY4614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5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AF9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6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3D42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0B3D42"/>
                </a:solidFill>
                <a:latin typeface="Cambria"/>
                <a:ea typeface="Cambria"/>
                <a:cs typeface="Cambria"/>
                <a:sym typeface="Cambria"/>
              </a:rPr>
              <a:t>Pertinencia con el perfil de egreso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 txBox="1"/>
          <p:nvPr/>
        </p:nvSpPr>
        <p:spPr>
          <a:xfrm>
            <a:off x="548640" y="1170432"/>
            <a:ext cx="10789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El proyecto integra de forma articulada las competencias de especialidad de Ingeniería en Informática, en las áreas de Desarrollo de Software y Gestión de Proyectos Informáticos.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6"/>
          <p:cNvSpPr/>
          <p:nvPr/>
        </p:nvSpPr>
        <p:spPr>
          <a:xfrm>
            <a:off x="548640" y="1965960"/>
            <a:ext cx="10881360" cy="713232"/>
          </a:xfrm>
          <a:prstGeom prst="roundRect">
            <a:avLst>
              <a:gd fmla="val 1025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6"/>
          <p:cNvSpPr/>
          <p:nvPr/>
        </p:nvSpPr>
        <p:spPr>
          <a:xfrm>
            <a:off x="713232" y="2084832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6"/>
          <p:cNvSpPr txBox="1"/>
          <p:nvPr/>
        </p:nvSpPr>
        <p:spPr>
          <a:xfrm>
            <a:off x="713232" y="208483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6"/>
          <p:cNvSpPr txBox="1"/>
          <p:nvPr/>
        </p:nvSpPr>
        <p:spPr>
          <a:xfrm>
            <a:off x="1417320" y="2039112"/>
            <a:ext cx="39319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Gestionar proyectos informáticos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6"/>
          <p:cNvSpPr txBox="1"/>
          <p:nvPr/>
        </p:nvSpPr>
        <p:spPr>
          <a:xfrm>
            <a:off x="5440680" y="2039112"/>
            <a:ext cx="58064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Planificación por sprints y Product Backlog priorizado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6"/>
          <p:cNvSpPr/>
          <p:nvPr/>
        </p:nvSpPr>
        <p:spPr>
          <a:xfrm>
            <a:off x="548640" y="2834640"/>
            <a:ext cx="10881360" cy="713232"/>
          </a:xfrm>
          <a:prstGeom prst="roundRect">
            <a:avLst>
              <a:gd fmla="val 10256" name="adj"/>
            </a:avLst>
          </a:prstGeom>
          <a:solidFill>
            <a:srgbClr val="E9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6"/>
          <p:cNvSpPr/>
          <p:nvPr/>
        </p:nvSpPr>
        <p:spPr>
          <a:xfrm>
            <a:off x="713232" y="2953512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6"/>
          <p:cNvSpPr txBox="1"/>
          <p:nvPr/>
        </p:nvSpPr>
        <p:spPr>
          <a:xfrm>
            <a:off x="713232" y="295351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6"/>
          <p:cNvSpPr txBox="1"/>
          <p:nvPr/>
        </p:nvSpPr>
        <p:spPr>
          <a:xfrm>
            <a:off x="1417320" y="2907792"/>
            <a:ext cx="39319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Construir modelos de datos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 txBox="1"/>
          <p:nvPr/>
        </p:nvSpPr>
        <p:spPr>
          <a:xfrm>
            <a:off x="5440680" y="2907792"/>
            <a:ext cx="58064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Esquema relacional escalable: cuentas, perfiles dependientes, rutinas, permisos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6"/>
          <p:cNvSpPr/>
          <p:nvPr/>
        </p:nvSpPr>
        <p:spPr>
          <a:xfrm>
            <a:off x="548640" y="3703320"/>
            <a:ext cx="10881360" cy="713232"/>
          </a:xfrm>
          <a:prstGeom prst="roundRect">
            <a:avLst>
              <a:gd fmla="val 1025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6"/>
          <p:cNvSpPr/>
          <p:nvPr/>
        </p:nvSpPr>
        <p:spPr>
          <a:xfrm>
            <a:off x="713232" y="3822192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6"/>
          <p:cNvSpPr txBox="1"/>
          <p:nvPr/>
        </p:nvSpPr>
        <p:spPr>
          <a:xfrm>
            <a:off x="713232" y="382219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 txBox="1"/>
          <p:nvPr/>
        </p:nvSpPr>
        <p:spPr>
          <a:xfrm>
            <a:off x="1417320" y="3776472"/>
            <a:ext cx="39319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Desarrollar una solución de software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6"/>
          <p:cNvSpPr txBox="1"/>
          <p:nvPr/>
        </p:nvSpPr>
        <p:spPr>
          <a:xfrm>
            <a:off x="5440680" y="3776472"/>
            <a:ext cx="58064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Backend (FastAPI) + aplicación móvil (Flutter) integrados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/>
          <p:nvPr/>
        </p:nvSpPr>
        <p:spPr>
          <a:xfrm>
            <a:off x="548640" y="4572000"/>
            <a:ext cx="10881360" cy="713232"/>
          </a:xfrm>
          <a:prstGeom prst="roundRect">
            <a:avLst>
              <a:gd fmla="val 10256" name="adj"/>
            </a:avLst>
          </a:prstGeom>
          <a:solidFill>
            <a:srgbClr val="E9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6"/>
          <p:cNvSpPr/>
          <p:nvPr/>
        </p:nvSpPr>
        <p:spPr>
          <a:xfrm>
            <a:off x="713232" y="4690872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6"/>
          <p:cNvSpPr txBox="1"/>
          <p:nvPr/>
        </p:nvSpPr>
        <p:spPr>
          <a:xfrm>
            <a:off x="713232" y="469087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6"/>
          <p:cNvSpPr txBox="1"/>
          <p:nvPr/>
        </p:nvSpPr>
        <p:spPr>
          <a:xfrm>
            <a:off x="1417320" y="4645152"/>
            <a:ext cx="39319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Realizar pruebas de certificación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6"/>
          <p:cNvSpPr txBox="1"/>
          <p:nvPr/>
        </p:nvSpPr>
        <p:spPr>
          <a:xfrm>
            <a:off x="5440680" y="4645152"/>
            <a:ext cx="58064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Pruebas de calidad sobre cada módulo entregado en Fase 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6"/>
          <p:cNvSpPr/>
          <p:nvPr/>
        </p:nvSpPr>
        <p:spPr>
          <a:xfrm>
            <a:off x="548640" y="5440680"/>
            <a:ext cx="10881360" cy="713232"/>
          </a:xfrm>
          <a:prstGeom prst="roundRect">
            <a:avLst>
              <a:gd fmla="val 1025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6"/>
          <p:cNvSpPr/>
          <p:nvPr/>
        </p:nvSpPr>
        <p:spPr>
          <a:xfrm>
            <a:off x="713232" y="5559552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6"/>
          <p:cNvSpPr txBox="1"/>
          <p:nvPr/>
        </p:nvSpPr>
        <p:spPr>
          <a:xfrm>
            <a:off x="713232" y="555955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6"/>
          <p:cNvSpPr txBox="1"/>
          <p:nvPr/>
        </p:nvSpPr>
        <p:spPr>
          <a:xfrm>
            <a:off x="1417320" y="5513832"/>
            <a:ext cx="39319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Comunicación en inglés (nivel elemental)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6"/>
          <p:cNvSpPr txBox="1"/>
          <p:nvPr/>
        </p:nvSpPr>
        <p:spPr>
          <a:xfrm>
            <a:off x="5440680" y="5513832"/>
            <a:ext cx="58064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Abstract, conclusiones y reflexiones del proyecto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6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Perfil Médico+  ·  Capstone_005D · Grupo 7  ·  PTY4614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AF9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7"/>
          <p:cNvSpPr txBox="1"/>
          <p:nvPr/>
        </p:nvSpPr>
        <p:spPr>
          <a:xfrm>
            <a:off x="548640" y="457200"/>
            <a:ext cx="10515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3D42"/>
              </a:buClr>
              <a:buSzPts val="2800"/>
              <a:buFont typeface="Cambria"/>
              <a:buNone/>
            </a:pPr>
            <a:r>
              <a:rPr b="1" i="0" lang="en-US" sz="2800" u="none" cap="none" strike="noStrike">
                <a:solidFill>
                  <a:srgbClr val="0B3D42"/>
                </a:solidFill>
                <a:latin typeface="Cambria"/>
                <a:ea typeface="Cambria"/>
                <a:cs typeface="Cambria"/>
                <a:sym typeface="Cambria"/>
              </a:rPr>
              <a:t>Relación con los intereses profesionales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 txBox="1"/>
          <p:nvPr/>
        </p:nvSpPr>
        <p:spPr>
          <a:xfrm>
            <a:off x="548640" y="1170432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Cada integrante eligió su módulo dentro de Perfil Médico+ en función de hacia dónde quiere proyectarse profesionalmente.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548640" y="1965960"/>
            <a:ext cx="3520440" cy="4160520"/>
          </a:xfrm>
          <a:prstGeom prst="roundRect">
            <a:avLst>
              <a:gd fmla="val 2597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F3A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7"/>
          <p:cNvSpPr/>
          <p:nvPr/>
        </p:nvSpPr>
        <p:spPr>
          <a:xfrm>
            <a:off x="548640" y="1965960"/>
            <a:ext cx="3520440" cy="960120"/>
          </a:xfrm>
          <a:prstGeom prst="roundRect">
            <a:avLst>
              <a:gd fmla="val 9524" name="adj"/>
            </a:avLst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7"/>
          <p:cNvSpPr/>
          <p:nvPr/>
        </p:nvSpPr>
        <p:spPr>
          <a:xfrm>
            <a:off x="548640" y="2423160"/>
            <a:ext cx="3520440" cy="502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7"/>
          <p:cNvSpPr txBox="1"/>
          <p:nvPr/>
        </p:nvSpPr>
        <p:spPr>
          <a:xfrm>
            <a:off x="749808" y="2075688"/>
            <a:ext cx="311810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Benjamín Leiva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7"/>
          <p:cNvSpPr txBox="1"/>
          <p:nvPr/>
        </p:nvSpPr>
        <p:spPr>
          <a:xfrm>
            <a:off x="749808" y="2441448"/>
            <a:ext cx="311810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Programación + Inteligencia Artificial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7"/>
          <p:cNvSpPr txBox="1"/>
          <p:nvPr/>
        </p:nvSpPr>
        <p:spPr>
          <a:xfrm>
            <a:off x="749808" y="3108960"/>
            <a:ext cx="3118104" cy="2880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Mi rol en el backend aplica y </a:t>
            </a:r>
            <a:r>
              <a:rPr lang="en-US" sz="1150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fortalecer</a:t>
            </a:r>
            <a:r>
              <a:rPr b="0" i="0" lang="en-US" sz="11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 mis competencias de programación, mientras que integrar el módulo de IA conecta con la asignatura de Machine Learning que cursé. Me proyecto especializándome en desarrollo de software y en el área de datos e IA.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4343400" y="1965960"/>
            <a:ext cx="3520440" cy="4160520"/>
          </a:xfrm>
          <a:prstGeom prst="roundRect">
            <a:avLst>
              <a:gd fmla="val 2597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F3A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7"/>
          <p:cNvSpPr/>
          <p:nvPr/>
        </p:nvSpPr>
        <p:spPr>
          <a:xfrm>
            <a:off x="4343400" y="1965960"/>
            <a:ext cx="3520440" cy="960120"/>
          </a:xfrm>
          <a:prstGeom prst="roundRect">
            <a:avLst>
              <a:gd fmla="val 9524" name="adj"/>
            </a:avLst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7"/>
          <p:cNvSpPr/>
          <p:nvPr/>
        </p:nvSpPr>
        <p:spPr>
          <a:xfrm>
            <a:off x="4343400" y="2423160"/>
            <a:ext cx="3520440" cy="50292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7"/>
          <p:cNvSpPr txBox="1"/>
          <p:nvPr/>
        </p:nvSpPr>
        <p:spPr>
          <a:xfrm>
            <a:off x="4544568" y="2075688"/>
            <a:ext cx="311810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Sergio Ocares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7"/>
          <p:cNvSpPr txBox="1"/>
          <p:nvPr/>
        </p:nvSpPr>
        <p:spPr>
          <a:xfrm>
            <a:off x="4544568" y="2441448"/>
            <a:ext cx="311810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Bases de datos + IA aplicada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 txBox="1"/>
          <p:nvPr/>
        </p:nvSpPr>
        <p:spPr>
          <a:xfrm>
            <a:off x="4544568" y="3108960"/>
            <a:ext cx="3118104" cy="2880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Diseñar y estructurar la base de datos en PostgreSQL, junto con integrar el módulo de IA, refleja directamente mi interés en el modelado de datos y en la resolución práctica de problemas con inteligencia artificial. Me proyecto en ingeniería y gestión de datos.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7"/>
          <p:cNvSpPr/>
          <p:nvPr/>
        </p:nvSpPr>
        <p:spPr>
          <a:xfrm>
            <a:off x="8138160" y="1965960"/>
            <a:ext cx="3520440" cy="4160520"/>
          </a:xfrm>
          <a:prstGeom prst="roundRect">
            <a:avLst>
              <a:gd fmla="val 2597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F3A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7"/>
          <p:cNvSpPr/>
          <p:nvPr/>
        </p:nvSpPr>
        <p:spPr>
          <a:xfrm>
            <a:off x="8138160" y="1965960"/>
            <a:ext cx="3520440" cy="960120"/>
          </a:xfrm>
          <a:prstGeom prst="roundRect">
            <a:avLst>
              <a:gd fmla="val 9524" name="adj"/>
            </a:avLst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7"/>
          <p:cNvSpPr/>
          <p:nvPr/>
        </p:nvSpPr>
        <p:spPr>
          <a:xfrm>
            <a:off x="8138160" y="2423160"/>
            <a:ext cx="3520440" cy="5029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7"/>
          <p:cNvSpPr txBox="1"/>
          <p:nvPr/>
        </p:nvSpPr>
        <p:spPr>
          <a:xfrm>
            <a:off x="8339328" y="2075688"/>
            <a:ext cx="311810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Matías Pizarro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7"/>
          <p:cNvSpPr txBox="1"/>
          <p:nvPr/>
        </p:nvSpPr>
        <p:spPr>
          <a:xfrm>
            <a:off x="8339328" y="2441448"/>
            <a:ext cx="311810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Programación + bases de datos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 txBox="1"/>
          <p:nvPr/>
        </p:nvSpPr>
        <p:spPr>
          <a:xfrm>
            <a:off x="8339328" y="3108960"/>
            <a:ext cx="3118104" cy="2880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Mi foco actual es el frontend: construir la interfaz en Flutter me permite aplicar programación y ganar experiencia real, mientras sigo fortaleciendo mi interés en desarrollo backend y gestión de datos a futuro.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7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Perfil Médico+  ·  Capstone_005D · Grupo 7  ·  PTY4614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3D42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8"/>
          <p:cNvSpPr/>
          <p:nvPr/>
        </p:nvSpPr>
        <p:spPr>
          <a:xfrm>
            <a:off x="-1371600" y="4389120"/>
            <a:ext cx="4572000" cy="4572000"/>
          </a:xfrm>
          <a:prstGeom prst="ellipse">
            <a:avLst/>
          </a:prstGeom>
          <a:solidFill>
            <a:srgbClr val="028090">
              <a:alpha val="2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8"/>
          <p:cNvSpPr txBox="1"/>
          <p:nvPr/>
        </p:nvSpPr>
        <p:spPr>
          <a:xfrm>
            <a:off x="822960" y="82296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896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0A896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8"/>
          <p:cNvSpPr txBox="1"/>
          <p:nvPr/>
        </p:nvSpPr>
        <p:spPr>
          <a:xfrm>
            <a:off x="822960" y="1463040"/>
            <a:ext cx="987552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Cambria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Desarrollar Perfil Médico+, una aplicación móvil con backend web que centralice la salud personal y familiar mediante un modelo de cuenta titular con perfiles dependientes, gestionando rutinas de cuidado y generando alertas configurables hacia los cuidadores autorizados.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Perfil Médico+  ·  Capstone_005D · Grupo 7  ·  PTY4614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AF9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9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3D4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B3D42"/>
                </a:solidFill>
                <a:latin typeface="Cambria"/>
                <a:ea typeface="Cambria"/>
                <a:cs typeface="Cambria"/>
                <a:sym typeface="Cambria"/>
              </a:rPr>
              <a:t>Objetivos específicos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9"/>
          <p:cNvSpPr/>
          <p:nvPr/>
        </p:nvSpPr>
        <p:spPr>
          <a:xfrm>
            <a:off x="548640" y="1325880"/>
            <a:ext cx="5349240" cy="1356360"/>
          </a:xfrm>
          <a:prstGeom prst="roundRect">
            <a:avLst>
              <a:gd fmla="val 6067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F3A3C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9"/>
          <p:cNvSpPr/>
          <p:nvPr/>
        </p:nvSpPr>
        <p:spPr>
          <a:xfrm>
            <a:off x="731520" y="1490472"/>
            <a:ext cx="384048" cy="38404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9"/>
          <p:cNvSpPr txBox="1"/>
          <p:nvPr/>
        </p:nvSpPr>
        <p:spPr>
          <a:xfrm>
            <a:off x="731520" y="149047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9"/>
          <p:cNvSpPr txBox="1"/>
          <p:nvPr/>
        </p:nvSpPr>
        <p:spPr>
          <a:xfrm>
            <a:off x="1261872" y="1417320"/>
            <a:ext cx="4434840" cy="1173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Implementar autenticación y gestión de cuentas titulares con creación/vinculación de perfiles dependientes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6263640" y="1325880"/>
            <a:ext cx="5349240" cy="1356360"/>
          </a:xfrm>
          <a:prstGeom prst="roundRect">
            <a:avLst>
              <a:gd fmla="val 6067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F3A3C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9"/>
          <p:cNvSpPr/>
          <p:nvPr/>
        </p:nvSpPr>
        <p:spPr>
          <a:xfrm>
            <a:off x="6446520" y="1490472"/>
            <a:ext cx="384048" cy="384048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9"/>
          <p:cNvSpPr txBox="1"/>
          <p:nvPr/>
        </p:nvSpPr>
        <p:spPr>
          <a:xfrm>
            <a:off x="6446520" y="149047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9"/>
          <p:cNvSpPr txBox="1"/>
          <p:nvPr/>
        </p:nvSpPr>
        <p:spPr>
          <a:xfrm>
            <a:off x="6976872" y="1417320"/>
            <a:ext cx="4434840" cy="1173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Desarrollar registro y seguimiento de rutinas de cuidado (medicamentos, alimentación, hidratación) con confirmación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9"/>
          <p:cNvSpPr/>
          <p:nvPr/>
        </p:nvSpPr>
        <p:spPr>
          <a:xfrm>
            <a:off x="548640" y="3002280"/>
            <a:ext cx="5349240" cy="1356360"/>
          </a:xfrm>
          <a:prstGeom prst="roundRect">
            <a:avLst>
              <a:gd fmla="val 6067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F3A3C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731520" y="3166872"/>
            <a:ext cx="384048" cy="384048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9"/>
          <p:cNvSpPr txBox="1"/>
          <p:nvPr/>
        </p:nvSpPr>
        <p:spPr>
          <a:xfrm>
            <a:off x="731520" y="316687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9"/>
          <p:cNvSpPr txBox="1"/>
          <p:nvPr/>
        </p:nvSpPr>
        <p:spPr>
          <a:xfrm>
            <a:off x="1261872" y="3093720"/>
            <a:ext cx="4434840" cy="1173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Diseñar permisos configurables para invitar cuidadores adicionales a un perfil dependiente específico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6263640" y="3002280"/>
            <a:ext cx="5349240" cy="1356360"/>
          </a:xfrm>
          <a:prstGeom prst="roundRect">
            <a:avLst>
              <a:gd fmla="val 6067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F3A3C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9"/>
          <p:cNvSpPr/>
          <p:nvPr/>
        </p:nvSpPr>
        <p:spPr>
          <a:xfrm>
            <a:off x="6446520" y="3166872"/>
            <a:ext cx="384048" cy="38404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9"/>
          <p:cNvSpPr txBox="1"/>
          <p:nvPr/>
        </p:nvSpPr>
        <p:spPr>
          <a:xfrm>
            <a:off x="6446520" y="316687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9"/>
          <p:cNvSpPr txBox="1"/>
          <p:nvPr/>
        </p:nvSpPr>
        <p:spPr>
          <a:xfrm>
            <a:off x="6976872" y="3093720"/>
            <a:ext cx="4434840" cy="1173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Construir recordatorios y alertas escalonadas ante actividades no confirmadas a tiempo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548640" y="4678680"/>
            <a:ext cx="5349240" cy="1356360"/>
          </a:xfrm>
          <a:prstGeom prst="roundRect">
            <a:avLst>
              <a:gd fmla="val 6067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F3A3C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9"/>
          <p:cNvSpPr/>
          <p:nvPr/>
        </p:nvSpPr>
        <p:spPr>
          <a:xfrm>
            <a:off x="731520" y="4843272"/>
            <a:ext cx="384048" cy="384048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9"/>
          <p:cNvSpPr txBox="1"/>
          <p:nvPr/>
        </p:nvSpPr>
        <p:spPr>
          <a:xfrm>
            <a:off x="731520" y="484327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9"/>
          <p:cNvSpPr txBox="1"/>
          <p:nvPr/>
        </p:nvSpPr>
        <p:spPr>
          <a:xfrm>
            <a:off x="1261872" y="4770120"/>
            <a:ext cx="4434840" cy="1173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Incorporar indicadores de salud e historial de cumplimiento visualizable mediante gráficos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6263640" y="4678680"/>
            <a:ext cx="5349240" cy="1356360"/>
          </a:xfrm>
          <a:prstGeom prst="roundRect">
            <a:avLst>
              <a:gd fmla="val 6067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F3A3C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9"/>
          <p:cNvSpPr/>
          <p:nvPr/>
        </p:nvSpPr>
        <p:spPr>
          <a:xfrm>
            <a:off x="6446520" y="4843272"/>
            <a:ext cx="384048" cy="384048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9"/>
          <p:cNvSpPr txBox="1"/>
          <p:nvPr/>
        </p:nvSpPr>
        <p:spPr>
          <a:xfrm>
            <a:off x="6446520" y="484327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9"/>
          <p:cNvSpPr txBox="1"/>
          <p:nvPr/>
        </p:nvSpPr>
        <p:spPr>
          <a:xfrm>
            <a:off x="6976872" y="4770120"/>
            <a:ext cx="4434840" cy="1173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Integrar un módulo de orientación general basado en IA sobre la información registrada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9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Perfil Médico+  ·  Capstone_005D · Grupo 7  ·  PTY4614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AF9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3D42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0B3D42"/>
                </a:solidFill>
                <a:latin typeface="Cambria"/>
                <a:ea typeface="Cambria"/>
                <a:cs typeface="Cambria"/>
                <a:sym typeface="Cambria"/>
              </a:rPr>
              <a:t>Arquitectura y tecnologías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0"/>
          <p:cNvSpPr/>
          <p:nvPr/>
        </p:nvSpPr>
        <p:spPr>
          <a:xfrm>
            <a:off x="548640" y="1417320"/>
            <a:ext cx="2514600" cy="1051560"/>
          </a:xfrm>
          <a:prstGeom prst="roundRect">
            <a:avLst>
              <a:gd fmla="val 6957" name="adj"/>
            </a:avLst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0"/>
          <p:cNvSpPr txBox="1"/>
          <p:nvPr/>
        </p:nvSpPr>
        <p:spPr>
          <a:xfrm>
            <a:off x="548640" y="1527048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 Flutter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0"/>
          <p:cNvSpPr txBox="1"/>
          <p:nvPr/>
        </p:nvSpPr>
        <p:spPr>
          <a:xfrm>
            <a:off x="640080" y="192024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Paciente · Adulto mayor · Cuidador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0"/>
          <p:cNvSpPr txBox="1"/>
          <p:nvPr/>
        </p:nvSpPr>
        <p:spPr>
          <a:xfrm>
            <a:off x="3063240" y="1691640"/>
            <a:ext cx="38404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3D42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0B3D42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0"/>
          <p:cNvSpPr/>
          <p:nvPr/>
        </p:nvSpPr>
        <p:spPr>
          <a:xfrm>
            <a:off x="3447288" y="1417320"/>
            <a:ext cx="2514600" cy="1051560"/>
          </a:xfrm>
          <a:prstGeom prst="roundRect">
            <a:avLst>
              <a:gd fmla="val 6957" name="adj"/>
            </a:avLst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10"/>
          <p:cNvSpPr txBox="1"/>
          <p:nvPr/>
        </p:nvSpPr>
        <p:spPr>
          <a:xfrm>
            <a:off x="3447288" y="1527048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API FastAPI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0"/>
          <p:cNvSpPr txBox="1"/>
          <p:nvPr/>
        </p:nvSpPr>
        <p:spPr>
          <a:xfrm>
            <a:off x="3538728" y="192024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Endpoints REST · JWT · Roles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0"/>
          <p:cNvSpPr txBox="1"/>
          <p:nvPr/>
        </p:nvSpPr>
        <p:spPr>
          <a:xfrm>
            <a:off x="5961888" y="1691640"/>
            <a:ext cx="38404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3D42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0B3D42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6345936" y="1417320"/>
            <a:ext cx="2514600" cy="1051560"/>
          </a:xfrm>
          <a:prstGeom prst="roundRect">
            <a:avLst>
              <a:gd fmla="val 6957" name="adj"/>
            </a:avLst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0"/>
          <p:cNvSpPr txBox="1"/>
          <p:nvPr/>
        </p:nvSpPr>
        <p:spPr>
          <a:xfrm>
            <a:off x="6345936" y="1527048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PostgreSQL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0"/>
          <p:cNvSpPr txBox="1"/>
          <p:nvPr/>
        </p:nvSpPr>
        <p:spPr>
          <a:xfrm>
            <a:off x="6437376" y="192024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Cuentas, perfiles, rutinas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0"/>
          <p:cNvSpPr/>
          <p:nvPr/>
        </p:nvSpPr>
        <p:spPr>
          <a:xfrm>
            <a:off x="9272016" y="1280160"/>
            <a:ext cx="2340864" cy="640080"/>
          </a:xfrm>
          <a:prstGeom prst="roundRect">
            <a:avLst>
              <a:gd fmla="val 11429" name="adj"/>
            </a:avLst>
          </a:prstGeom>
          <a:solidFill>
            <a:srgbClr val="0B3D4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0"/>
          <p:cNvSpPr txBox="1"/>
          <p:nvPr/>
        </p:nvSpPr>
        <p:spPr>
          <a:xfrm>
            <a:off x="9272016" y="1280160"/>
            <a:ext cx="234086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API LLM externa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0"/>
          <p:cNvSpPr/>
          <p:nvPr/>
        </p:nvSpPr>
        <p:spPr>
          <a:xfrm>
            <a:off x="9272016" y="2011680"/>
            <a:ext cx="2340864" cy="640080"/>
          </a:xfrm>
          <a:prstGeom prst="roundRect">
            <a:avLst>
              <a:gd fmla="val 11429" name="adj"/>
            </a:avLst>
          </a:prstGeom>
          <a:solidFill>
            <a:srgbClr val="0B3D4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0"/>
          <p:cNvSpPr txBox="1"/>
          <p:nvPr/>
        </p:nvSpPr>
        <p:spPr>
          <a:xfrm>
            <a:off x="9272016" y="2011680"/>
            <a:ext cx="234086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Notificaciones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/ Alertas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67" name="Google Shape;267;p10"/>
          <p:cNvGraphicFramePr/>
          <p:nvPr/>
        </p:nvGraphicFramePr>
        <p:xfrm>
          <a:off x="548640" y="2880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{554CAD42-E788-4672-9A14-52AAFFE15D3D}</a:tableStyleId>
              </a:tblPr>
              <a:tblGrid>
                <a:gridCol w="1737350"/>
                <a:gridCol w="2377450"/>
                <a:gridCol w="6949450"/>
              </a:tblGrid>
              <a:tr h="470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101600" marL="101600" anchor="ctr">
                    <a:lnL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3D4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Tecnología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101600" marL="101600" anchor="ctr">
                    <a:lnL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3D4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Motivo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101600" marL="101600" anchor="ctr">
                    <a:lnL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3D42"/>
                    </a:solidFill>
                  </a:tcPr>
                </a:tc>
              </a:tr>
              <a:tr h="470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2B2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0B2B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 móvil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101600" marL="101600" anchor="ctr">
                    <a:lnL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2B2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0B2B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Flutter (Dart)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101600" marL="101600" anchor="ctr">
                    <a:lnL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2B2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0B2B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 solo código para iOS y Android; ideal para equipo chico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101600" marL="101600" anchor="ctr">
                    <a:lnL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0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2B2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0B2B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Backend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101600" marL="101600" anchor="ctr">
                    <a:lnL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2B2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0B2B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FastAPI (Python)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101600" marL="101600" anchor="ctr">
                    <a:lnL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2B2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0B2B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Endpoints rápidos, validación automática, docs Swagger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101600" marL="101600" anchor="ctr">
                    <a:lnL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9F5F4"/>
                    </a:solidFill>
                  </a:tcPr>
                </a:tc>
              </a:tr>
              <a:tr h="470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2B2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0B2B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 de datos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101600" marL="101600" anchor="ctr">
                    <a:lnL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2B2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0B2B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PostgreSQL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101600" marL="101600" anchor="ctr">
                    <a:lnL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2B2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0B2B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Relacional, ajustada a datos interrelacionados del paciente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101600" marL="101600" anchor="ctr">
                    <a:lnL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0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2B2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0B2B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Autenticación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101600" marL="101600" anchor="ctr">
                    <a:lnL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2B2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0B2B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JWT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101600" marL="101600" anchor="ctr">
                    <a:lnL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2B2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0B2B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Distingue cuenta titular / perfiles dependientes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101600" marL="101600" anchor="ctr">
                    <a:lnL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9F5F4"/>
                    </a:solidFill>
                  </a:tcPr>
                </a:tc>
              </a:tr>
              <a:tr h="470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2B2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0B2B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Módulo IA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101600" marL="101600" anchor="ctr">
                    <a:lnL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2B2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0B2B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API de LLM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101600" marL="101600" anchor="ctr">
                    <a:lnL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2B2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0B2B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Consultas básicas de síntomas, sin entrenar modelo propio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101600" marL="101600" anchor="ctr">
                    <a:lnL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0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2B2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0B2B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Diseño UI/UX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101600" marL="101600" anchor="ctr">
                    <a:lnL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2B2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0B2B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Figma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101600" marL="101600" anchor="ctr">
                    <a:lnL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2B2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0B2B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Definir pantallas y flujos antes de programar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101600" marL="101600" anchor="ctr">
                    <a:lnL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D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9F5F4"/>
                    </a:solidFill>
                  </a:tcPr>
                </a:tc>
              </a:tr>
            </a:tbl>
          </a:graphicData>
        </a:graphic>
      </p:graphicFrame>
      <p:sp>
        <p:nvSpPr>
          <p:cNvPr id="268" name="Google Shape;268;p10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Perfil Médico+  ·  Capstone_005D · Grupo 7  ·  PTY4614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0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AF9"/>
        </a:solid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1"/>
          <p:cNvSpPr txBox="1"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3D42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0B3D42"/>
                </a:solidFill>
                <a:latin typeface="Cambria"/>
                <a:ea typeface="Cambria"/>
                <a:cs typeface="Cambria"/>
                <a:sym typeface="Cambria"/>
              </a:rPr>
              <a:t>Metodología de trabajo y roles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1"/>
          <p:cNvSpPr txBox="1"/>
          <p:nvPr/>
        </p:nvSpPr>
        <p:spPr>
          <a:xfrm>
            <a:off x="548640" y="1170432"/>
            <a:ext cx="10881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Trabajo ágil (Scrum), con sprints quincenales durante la Fase 2: Sprint Planning, seguimiento breve, demo de cierre y retrospectiva. Una historia se considera terminada (Definition of Done) cuando está integrada, probada y documentada en GitHub.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1"/>
          <p:cNvSpPr/>
          <p:nvPr/>
        </p:nvSpPr>
        <p:spPr>
          <a:xfrm>
            <a:off x="548640" y="2011680"/>
            <a:ext cx="3520440" cy="4114800"/>
          </a:xfrm>
          <a:prstGeom prst="roundRect">
            <a:avLst>
              <a:gd fmla="val 2597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F3A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1"/>
          <p:cNvSpPr/>
          <p:nvPr/>
        </p:nvSpPr>
        <p:spPr>
          <a:xfrm>
            <a:off x="548640" y="2011680"/>
            <a:ext cx="3520440" cy="822960"/>
          </a:xfrm>
          <a:prstGeom prst="roundRect">
            <a:avLst>
              <a:gd fmla="val 11111" name="adj"/>
            </a:avLst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1"/>
          <p:cNvSpPr/>
          <p:nvPr/>
        </p:nvSpPr>
        <p:spPr>
          <a:xfrm>
            <a:off x="548640" y="2423160"/>
            <a:ext cx="3520440" cy="4114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11"/>
          <p:cNvSpPr txBox="1"/>
          <p:nvPr/>
        </p:nvSpPr>
        <p:spPr>
          <a:xfrm>
            <a:off x="777240" y="2121408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Benjamín Leiva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1"/>
          <p:cNvSpPr txBox="1"/>
          <p:nvPr/>
        </p:nvSpPr>
        <p:spPr>
          <a:xfrm>
            <a:off x="777240" y="2450592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1"/>
          <p:cNvSpPr txBox="1"/>
          <p:nvPr/>
        </p:nvSpPr>
        <p:spPr>
          <a:xfrm>
            <a:off x="777240" y="301752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00"/>
              <a:buFont typeface="Calibri"/>
              <a:buNone/>
            </a:pPr>
            <a:r>
              <a:rPr b="1" i="1" lang="en-US" sz="11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Python + FastAPI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1"/>
          <p:cNvSpPr txBox="1"/>
          <p:nvPr/>
        </p:nvSpPr>
        <p:spPr>
          <a:xfrm>
            <a:off x="777240" y="3429000"/>
            <a:ext cx="306324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API REST, autenticación JWT, lógica de negocio, integración de notificaciones e IA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4343400" y="2011680"/>
            <a:ext cx="3520440" cy="4114800"/>
          </a:xfrm>
          <a:prstGeom prst="roundRect">
            <a:avLst>
              <a:gd fmla="val 2597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F3A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11"/>
          <p:cNvSpPr/>
          <p:nvPr/>
        </p:nvSpPr>
        <p:spPr>
          <a:xfrm>
            <a:off x="4343400" y="2011680"/>
            <a:ext cx="3520440" cy="822960"/>
          </a:xfrm>
          <a:prstGeom prst="roundRect">
            <a:avLst>
              <a:gd fmla="val 11111" name="adj"/>
            </a:avLst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11"/>
          <p:cNvSpPr/>
          <p:nvPr/>
        </p:nvSpPr>
        <p:spPr>
          <a:xfrm>
            <a:off x="4343400" y="2423160"/>
            <a:ext cx="3520440" cy="4114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11"/>
          <p:cNvSpPr txBox="1"/>
          <p:nvPr/>
        </p:nvSpPr>
        <p:spPr>
          <a:xfrm>
            <a:off x="4572000" y="2121408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Sergio Ocares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1"/>
          <p:cNvSpPr txBox="1"/>
          <p:nvPr/>
        </p:nvSpPr>
        <p:spPr>
          <a:xfrm>
            <a:off x="4572000" y="2450592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Base de datos + IA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1"/>
          <p:cNvSpPr txBox="1"/>
          <p:nvPr/>
        </p:nvSpPr>
        <p:spPr>
          <a:xfrm>
            <a:off x="4572000" y="301752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896"/>
              </a:buClr>
              <a:buSzPts val="1100"/>
              <a:buFont typeface="Calibri"/>
              <a:buNone/>
            </a:pPr>
            <a:r>
              <a:rPr b="1" i="1" lang="en-US" sz="1100" u="none" cap="none" strike="noStrike">
                <a:solidFill>
                  <a:srgbClr val="00A896"/>
                </a:solidFill>
                <a:latin typeface="Calibri"/>
                <a:ea typeface="Calibri"/>
                <a:cs typeface="Calibri"/>
                <a:sym typeface="Calibri"/>
              </a:rPr>
              <a:t>PostgreSQL / API LLM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1"/>
          <p:cNvSpPr txBox="1"/>
          <p:nvPr/>
        </p:nvSpPr>
        <p:spPr>
          <a:xfrm>
            <a:off x="4572000" y="3429000"/>
            <a:ext cx="306324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Modelado de BD, indicadores y reportes de cumplimiento, integración del módulo de IA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1"/>
          <p:cNvSpPr/>
          <p:nvPr/>
        </p:nvSpPr>
        <p:spPr>
          <a:xfrm>
            <a:off x="8138160" y="2011680"/>
            <a:ext cx="3520440" cy="4114800"/>
          </a:xfrm>
          <a:prstGeom prst="roundRect">
            <a:avLst>
              <a:gd fmla="val 2597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F3A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1"/>
          <p:cNvSpPr/>
          <p:nvPr/>
        </p:nvSpPr>
        <p:spPr>
          <a:xfrm>
            <a:off x="8138160" y="2011680"/>
            <a:ext cx="3520440" cy="822960"/>
          </a:xfrm>
          <a:prstGeom prst="roundRect">
            <a:avLst>
              <a:gd fmla="val 11111" name="adj"/>
            </a:avLst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1"/>
          <p:cNvSpPr/>
          <p:nvPr/>
        </p:nvSpPr>
        <p:spPr>
          <a:xfrm>
            <a:off x="8138160" y="2423160"/>
            <a:ext cx="3520440" cy="41148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11"/>
          <p:cNvSpPr txBox="1"/>
          <p:nvPr/>
        </p:nvSpPr>
        <p:spPr>
          <a:xfrm>
            <a:off x="8366760" y="2121408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Matías Pizarro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1"/>
          <p:cNvSpPr txBox="1"/>
          <p:nvPr/>
        </p:nvSpPr>
        <p:spPr>
          <a:xfrm>
            <a:off x="8366760" y="2450592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 móvil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1"/>
          <p:cNvSpPr txBox="1"/>
          <p:nvPr/>
        </p:nvSpPr>
        <p:spPr>
          <a:xfrm>
            <a:off x="8366760" y="301752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100"/>
              <a:buFont typeface="Calibri"/>
              <a:buNone/>
            </a:pPr>
            <a:r>
              <a:rPr b="1" i="1" lang="en-US" sz="11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Flutter / Dart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1"/>
          <p:cNvSpPr txBox="1"/>
          <p:nvPr/>
        </p:nvSpPr>
        <p:spPr>
          <a:xfrm>
            <a:off x="8366760" y="3429000"/>
            <a:ext cx="306324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Interfaz para titular y perfiles dependientes, experiencia de usuario accesible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1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Perfil Médico+  ·  Capstone_005D · Grupo 7  ·  PTY4614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1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AF9"/>
        </a:solid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2"/>
          <p:cNvSpPr txBox="1"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3D4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B3D42"/>
                </a:solidFill>
                <a:latin typeface="Cambria"/>
                <a:ea typeface="Cambria"/>
                <a:cs typeface="Cambria"/>
                <a:sym typeface="Cambria"/>
              </a:rPr>
              <a:t>Plan de trabajo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2"/>
          <p:cNvSpPr txBox="1"/>
          <p:nvPr/>
        </p:nvSpPr>
        <p:spPr>
          <a:xfrm>
            <a:off x="548640" y="1115568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Semestre de 18 semanas · 3 fases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548640" y="1828800"/>
            <a:ext cx="2458720" cy="777240"/>
          </a:xfrm>
          <a:prstGeom prst="roundRect">
            <a:avLst>
              <a:gd fmla="val 7059" name="adj"/>
            </a:avLst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2"/>
          <p:cNvSpPr txBox="1"/>
          <p:nvPr/>
        </p:nvSpPr>
        <p:spPr>
          <a:xfrm>
            <a:off x="640080" y="1883664"/>
            <a:ext cx="2275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2"/>
          <p:cNvSpPr txBox="1"/>
          <p:nvPr/>
        </p:nvSpPr>
        <p:spPr>
          <a:xfrm>
            <a:off x="640080" y="2194560"/>
            <a:ext cx="227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Definición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2"/>
          <p:cNvSpPr txBox="1"/>
          <p:nvPr/>
        </p:nvSpPr>
        <p:spPr>
          <a:xfrm>
            <a:off x="640080" y="2395728"/>
            <a:ext cx="2275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S1 – S4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2"/>
          <p:cNvSpPr/>
          <p:nvPr/>
        </p:nvSpPr>
        <p:spPr>
          <a:xfrm>
            <a:off x="3007360" y="1828800"/>
            <a:ext cx="6761480" cy="777240"/>
          </a:xfrm>
          <a:prstGeom prst="roundRect">
            <a:avLst>
              <a:gd fmla="val 7059" name="adj"/>
            </a:avLst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2"/>
          <p:cNvSpPr txBox="1"/>
          <p:nvPr/>
        </p:nvSpPr>
        <p:spPr>
          <a:xfrm>
            <a:off x="3098800" y="1883664"/>
            <a:ext cx="6578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2"/>
          <p:cNvSpPr txBox="1"/>
          <p:nvPr/>
        </p:nvSpPr>
        <p:spPr>
          <a:xfrm>
            <a:off x="3098800" y="2194560"/>
            <a:ext cx="657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Desarrollo (6 sprints)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2"/>
          <p:cNvSpPr txBox="1"/>
          <p:nvPr/>
        </p:nvSpPr>
        <p:spPr>
          <a:xfrm>
            <a:off x="3098800" y="2395728"/>
            <a:ext cx="6578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S5 – S15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2"/>
          <p:cNvSpPr/>
          <p:nvPr/>
        </p:nvSpPr>
        <p:spPr>
          <a:xfrm>
            <a:off x="9768840" y="1828800"/>
            <a:ext cx="1844040" cy="777240"/>
          </a:xfrm>
          <a:prstGeom prst="roundRect">
            <a:avLst>
              <a:gd fmla="val 7059" name="adj"/>
            </a:avLst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2"/>
          <p:cNvSpPr txBox="1"/>
          <p:nvPr/>
        </p:nvSpPr>
        <p:spPr>
          <a:xfrm>
            <a:off x="9860280" y="1883664"/>
            <a:ext cx="1661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2"/>
          <p:cNvSpPr txBox="1"/>
          <p:nvPr/>
        </p:nvSpPr>
        <p:spPr>
          <a:xfrm>
            <a:off x="9860280" y="2194560"/>
            <a:ext cx="1661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Presentación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2"/>
          <p:cNvSpPr txBox="1"/>
          <p:nvPr/>
        </p:nvSpPr>
        <p:spPr>
          <a:xfrm>
            <a:off x="9860280" y="2395728"/>
            <a:ext cx="1661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S16 – S18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9" name="Google Shape;319;p12"/>
          <p:cNvCxnSpPr/>
          <p:nvPr/>
        </p:nvCxnSpPr>
        <p:spPr>
          <a:xfrm>
            <a:off x="3007360" y="1691640"/>
            <a:ext cx="0" cy="1051560"/>
          </a:xfrm>
          <a:prstGeom prst="straightConnector1">
            <a:avLst/>
          </a:prstGeom>
          <a:noFill/>
          <a:ln cap="flat" cmpd="sng" w="25400">
            <a:solidFill>
              <a:srgbClr val="0B3D42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320" name="Google Shape;320;p12"/>
          <p:cNvSpPr txBox="1"/>
          <p:nvPr/>
        </p:nvSpPr>
        <p:spPr>
          <a:xfrm>
            <a:off x="2367280" y="132588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3D42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B3D42"/>
                </a:solidFill>
                <a:latin typeface="Calibri"/>
                <a:ea typeface="Calibri"/>
                <a:cs typeface="Calibri"/>
                <a:sym typeface="Calibri"/>
              </a:rPr>
              <a:t>Estamos aquí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2"/>
          <p:cNvSpPr/>
          <p:nvPr/>
        </p:nvSpPr>
        <p:spPr>
          <a:xfrm>
            <a:off x="548640" y="2971800"/>
            <a:ext cx="3535680" cy="868680"/>
          </a:xfrm>
          <a:prstGeom prst="roundRect">
            <a:avLst>
              <a:gd fmla="val 7368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12"/>
          <p:cNvSpPr txBox="1"/>
          <p:nvPr/>
        </p:nvSpPr>
        <p:spPr>
          <a:xfrm>
            <a:off x="685800" y="3044952"/>
            <a:ext cx="3261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Sprint 1 (S5-6)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2"/>
          <p:cNvSpPr txBox="1"/>
          <p:nvPr/>
        </p:nvSpPr>
        <p:spPr>
          <a:xfrm>
            <a:off x="685800" y="3319272"/>
            <a:ext cx="3261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Autenticación, modelo de datos, estructura base app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2"/>
          <p:cNvSpPr/>
          <p:nvPr/>
        </p:nvSpPr>
        <p:spPr>
          <a:xfrm>
            <a:off x="4312920" y="2971800"/>
            <a:ext cx="3535680" cy="868680"/>
          </a:xfrm>
          <a:prstGeom prst="roundRect">
            <a:avLst>
              <a:gd fmla="val 7368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12"/>
          <p:cNvSpPr txBox="1"/>
          <p:nvPr/>
        </p:nvSpPr>
        <p:spPr>
          <a:xfrm>
            <a:off x="4450080" y="3044952"/>
            <a:ext cx="3261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Sprint 2 (S7-8)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2"/>
          <p:cNvSpPr txBox="1"/>
          <p:nvPr/>
        </p:nvSpPr>
        <p:spPr>
          <a:xfrm>
            <a:off x="4450080" y="3319272"/>
            <a:ext cx="3261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Medicamentos y rutinas: API + UI conectadas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2"/>
          <p:cNvSpPr/>
          <p:nvPr/>
        </p:nvSpPr>
        <p:spPr>
          <a:xfrm>
            <a:off x="8077200" y="2971800"/>
            <a:ext cx="3535680" cy="868680"/>
          </a:xfrm>
          <a:prstGeom prst="roundRect">
            <a:avLst>
              <a:gd fmla="val 7368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2"/>
          <p:cNvSpPr txBox="1"/>
          <p:nvPr/>
        </p:nvSpPr>
        <p:spPr>
          <a:xfrm>
            <a:off x="8214360" y="3044952"/>
            <a:ext cx="3261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Sprint 3 (S9-10)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2"/>
          <p:cNvSpPr txBox="1"/>
          <p:nvPr/>
        </p:nvSpPr>
        <p:spPr>
          <a:xfrm>
            <a:off x="8214360" y="3319272"/>
            <a:ext cx="3261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Perfiles dependientes y permisos · Informe de Avance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2"/>
          <p:cNvSpPr/>
          <p:nvPr/>
        </p:nvSpPr>
        <p:spPr>
          <a:xfrm>
            <a:off x="548640" y="3977640"/>
            <a:ext cx="3535680" cy="868680"/>
          </a:xfrm>
          <a:prstGeom prst="roundRect">
            <a:avLst>
              <a:gd fmla="val 7368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2"/>
          <p:cNvSpPr txBox="1"/>
          <p:nvPr/>
        </p:nvSpPr>
        <p:spPr>
          <a:xfrm>
            <a:off x="685800" y="4050792"/>
            <a:ext cx="3261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Sprint 4 (S11-12)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2"/>
          <p:cNvSpPr txBox="1"/>
          <p:nvPr/>
        </p:nvSpPr>
        <p:spPr>
          <a:xfrm>
            <a:off x="685800" y="4325112"/>
            <a:ext cx="3261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Recordatorios, alertas e interfaz simplificada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2"/>
          <p:cNvSpPr/>
          <p:nvPr/>
        </p:nvSpPr>
        <p:spPr>
          <a:xfrm>
            <a:off x="4312920" y="3977640"/>
            <a:ext cx="3535680" cy="868680"/>
          </a:xfrm>
          <a:prstGeom prst="roundRect">
            <a:avLst>
              <a:gd fmla="val 7368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2"/>
          <p:cNvSpPr txBox="1"/>
          <p:nvPr/>
        </p:nvSpPr>
        <p:spPr>
          <a:xfrm>
            <a:off x="4450080" y="4050792"/>
            <a:ext cx="3261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Sprint 5 (S13-14)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2"/>
          <p:cNvSpPr txBox="1"/>
          <p:nvPr/>
        </p:nvSpPr>
        <p:spPr>
          <a:xfrm>
            <a:off x="4450080" y="4325112"/>
            <a:ext cx="3261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Indicadores de salud, historial y módulo de IA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2"/>
          <p:cNvSpPr/>
          <p:nvPr/>
        </p:nvSpPr>
        <p:spPr>
          <a:xfrm>
            <a:off x="8077200" y="3977640"/>
            <a:ext cx="3535680" cy="868680"/>
          </a:xfrm>
          <a:prstGeom prst="roundRect">
            <a:avLst>
              <a:gd fmla="val 7368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12"/>
          <p:cNvSpPr txBox="1"/>
          <p:nvPr/>
        </p:nvSpPr>
        <p:spPr>
          <a:xfrm>
            <a:off x="8214360" y="4050792"/>
            <a:ext cx="3261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Sprint 6 (S15)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2"/>
          <p:cNvSpPr txBox="1"/>
          <p:nvPr/>
        </p:nvSpPr>
        <p:spPr>
          <a:xfrm>
            <a:off x="8214360" y="4325112"/>
            <a:ext cx="3261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Pruebas integrales, documentación e Informe Final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2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Principal facilitador: el equipo ya domina las tecnologías definidas. Principal obstáculo: coordinar horarios entre los tres integrantes — se mitiga con reuniones semanales fijas.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2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Perfil Médico+  ·  Capstone_005D · Grupo 7  ·  PTY4614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2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AF9"/>
        </a:solidFill>
      </p:bgPr>
    </p:bg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13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3D42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0B3D42"/>
                </a:solidFill>
                <a:latin typeface="Cambria"/>
                <a:ea typeface="Cambria"/>
                <a:cs typeface="Cambria"/>
                <a:sym typeface="Cambria"/>
              </a:rPr>
              <a:t>Evidencias planificadas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3"/>
          <p:cNvSpPr/>
          <p:nvPr/>
        </p:nvSpPr>
        <p:spPr>
          <a:xfrm>
            <a:off x="548640" y="1280160"/>
            <a:ext cx="5349240" cy="502920"/>
          </a:xfrm>
          <a:prstGeom prst="roundRect">
            <a:avLst>
              <a:gd fmla="val 12727" name="adj"/>
            </a:avLst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13"/>
          <p:cNvSpPr txBox="1"/>
          <p:nvPr/>
        </p:nvSpPr>
        <p:spPr>
          <a:xfrm>
            <a:off x="548640" y="1280160"/>
            <a:ext cx="5349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 avance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3"/>
          <p:cNvSpPr/>
          <p:nvPr/>
        </p:nvSpPr>
        <p:spPr>
          <a:xfrm>
            <a:off x="548640" y="1965960"/>
            <a:ext cx="5349240" cy="1783080"/>
          </a:xfrm>
          <a:prstGeom prst="roundRect">
            <a:avLst>
              <a:gd fmla="val 4103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F3A3C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13"/>
          <p:cNvSpPr txBox="1"/>
          <p:nvPr/>
        </p:nvSpPr>
        <p:spPr>
          <a:xfrm>
            <a:off x="777240" y="2130552"/>
            <a:ext cx="4892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Repositorio GitHub actualizado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3"/>
          <p:cNvSpPr txBox="1"/>
          <p:nvPr/>
        </p:nvSpPr>
        <p:spPr>
          <a:xfrm>
            <a:off x="777240" y="2624328"/>
            <a:ext cx="48920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Código del módulo de autenticación, modelo de datos y estructura base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3"/>
          <p:cNvSpPr/>
          <p:nvPr/>
        </p:nvSpPr>
        <p:spPr>
          <a:xfrm>
            <a:off x="548640" y="3931920"/>
            <a:ext cx="5349240" cy="1783080"/>
          </a:xfrm>
          <a:prstGeom prst="roundRect">
            <a:avLst>
              <a:gd fmla="val 4103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F3A3C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3"/>
          <p:cNvSpPr txBox="1"/>
          <p:nvPr/>
        </p:nvSpPr>
        <p:spPr>
          <a:xfrm>
            <a:off x="777240" y="4096512"/>
            <a:ext cx="4892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Informe de Avance Proyecto APT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3"/>
          <p:cNvSpPr txBox="1"/>
          <p:nvPr/>
        </p:nvSpPr>
        <p:spPr>
          <a:xfrm>
            <a:off x="777240" y="4590288"/>
            <a:ext cx="48920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Resumen del estado de desarrollo y objetivos/metodología ajustados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3"/>
          <p:cNvSpPr/>
          <p:nvPr/>
        </p:nvSpPr>
        <p:spPr>
          <a:xfrm>
            <a:off x="6263640" y="1280160"/>
            <a:ext cx="5349240" cy="502920"/>
          </a:xfrm>
          <a:prstGeom prst="roundRect">
            <a:avLst>
              <a:gd fmla="val 12727" name="adj"/>
            </a:avLst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13"/>
          <p:cNvSpPr txBox="1"/>
          <p:nvPr/>
        </p:nvSpPr>
        <p:spPr>
          <a:xfrm>
            <a:off x="6263640" y="1280160"/>
            <a:ext cx="5349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Finales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3"/>
          <p:cNvSpPr/>
          <p:nvPr/>
        </p:nvSpPr>
        <p:spPr>
          <a:xfrm>
            <a:off x="6263640" y="1965960"/>
            <a:ext cx="5349240" cy="1783080"/>
          </a:xfrm>
          <a:prstGeom prst="roundRect">
            <a:avLst>
              <a:gd fmla="val 4103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F3A3C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13"/>
          <p:cNvSpPr txBox="1"/>
          <p:nvPr/>
        </p:nvSpPr>
        <p:spPr>
          <a:xfrm>
            <a:off x="6492240" y="2130552"/>
            <a:ext cx="4892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Aplicación funcional + backend (Docker)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3"/>
          <p:cNvSpPr txBox="1"/>
          <p:nvPr/>
        </p:nvSpPr>
        <p:spPr>
          <a:xfrm>
            <a:off x="6492240" y="2624328"/>
            <a:ext cx="48920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Módulos del MVP integrados y operativos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3"/>
          <p:cNvSpPr/>
          <p:nvPr/>
        </p:nvSpPr>
        <p:spPr>
          <a:xfrm>
            <a:off x="6263640" y="3931920"/>
            <a:ext cx="5349240" cy="1783080"/>
          </a:xfrm>
          <a:prstGeom prst="roundRect">
            <a:avLst>
              <a:gd fmla="val 4103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F3A3C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3"/>
          <p:cNvSpPr txBox="1"/>
          <p:nvPr/>
        </p:nvSpPr>
        <p:spPr>
          <a:xfrm>
            <a:off x="6492240" y="4096512"/>
            <a:ext cx="4892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Informe Final + manual técnico + README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6492240" y="4590288"/>
            <a:ext cx="48920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Documentación completa, arquitectura y despliegue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3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En Fase 1 el proyecto está en etapa de definición y planificación; los indicadores de implementación se evidenciarán en Fase 2.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3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Perfil Médico+  ·  Capstone_005D · Grupo 7  ·  PTY4614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3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AF9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14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3D42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0B3D42"/>
                </a:solidFill>
                <a:latin typeface="Cambria"/>
                <a:ea typeface="Cambria"/>
                <a:cs typeface="Cambria"/>
                <a:sym typeface="Cambria"/>
              </a:rPr>
              <a:t>Factibilidad del proyecto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4"/>
          <p:cNvSpPr/>
          <p:nvPr/>
        </p:nvSpPr>
        <p:spPr>
          <a:xfrm>
            <a:off x="548640" y="1325880"/>
            <a:ext cx="3474720" cy="2011680"/>
          </a:xfrm>
          <a:prstGeom prst="roundRect">
            <a:avLst>
              <a:gd fmla="val 4091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F3A3C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14"/>
          <p:cNvSpPr/>
          <p:nvPr/>
        </p:nvSpPr>
        <p:spPr>
          <a:xfrm>
            <a:off x="731520" y="1508760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14"/>
          <p:cNvSpPr txBox="1"/>
          <p:nvPr/>
        </p:nvSpPr>
        <p:spPr>
          <a:xfrm>
            <a:off x="731520" y="150876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4"/>
          <p:cNvSpPr txBox="1"/>
          <p:nvPr/>
        </p:nvSpPr>
        <p:spPr>
          <a:xfrm>
            <a:off x="1371600" y="1527048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Tiempo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4"/>
          <p:cNvSpPr txBox="1"/>
          <p:nvPr/>
        </p:nvSpPr>
        <p:spPr>
          <a:xfrm>
            <a:off x="731520" y="2148840"/>
            <a:ext cx="3108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18 semanas de semestre, con 11 semanas de desarrollo intensivo en Fase 2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4"/>
          <p:cNvSpPr/>
          <p:nvPr/>
        </p:nvSpPr>
        <p:spPr>
          <a:xfrm>
            <a:off x="4343400" y="1325880"/>
            <a:ext cx="3474720" cy="2011680"/>
          </a:xfrm>
          <a:prstGeom prst="roundRect">
            <a:avLst>
              <a:gd fmla="val 4091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F3A3C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4"/>
          <p:cNvSpPr/>
          <p:nvPr/>
        </p:nvSpPr>
        <p:spPr>
          <a:xfrm>
            <a:off x="4526280" y="1508760"/>
            <a:ext cx="502920" cy="50292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14"/>
          <p:cNvSpPr txBox="1"/>
          <p:nvPr/>
        </p:nvSpPr>
        <p:spPr>
          <a:xfrm>
            <a:off x="4526280" y="150876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🎓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4"/>
          <p:cNvSpPr txBox="1"/>
          <p:nvPr/>
        </p:nvSpPr>
        <p:spPr>
          <a:xfrm>
            <a:off x="5166360" y="1527048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Horas asignadas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4"/>
          <p:cNvSpPr txBox="1"/>
          <p:nvPr/>
        </p:nvSpPr>
        <p:spPr>
          <a:xfrm>
            <a:off x="4526280" y="2148840"/>
            <a:ext cx="3108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CAPSTONE: 20 créditos (10 trabajo docente + 10 trabajo autónomo)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4"/>
          <p:cNvSpPr/>
          <p:nvPr/>
        </p:nvSpPr>
        <p:spPr>
          <a:xfrm>
            <a:off x="8138160" y="1325880"/>
            <a:ext cx="3474720" cy="2011680"/>
          </a:xfrm>
          <a:prstGeom prst="roundRect">
            <a:avLst>
              <a:gd fmla="val 4091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F3A3C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14"/>
          <p:cNvSpPr/>
          <p:nvPr/>
        </p:nvSpPr>
        <p:spPr>
          <a:xfrm>
            <a:off x="8321040" y="1508760"/>
            <a:ext cx="502920" cy="50292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14"/>
          <p:cNvSpPr txBox="1"/>
          <p:nvPr/>
        </p:nvSpPr>
        <p:spPr>
          <a:xfrm>
            <a:off x="8321040" y="150876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🧰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4"/>
          <p:cNvSpPr txBox="1"/>
          <p:nvPr/>
        </p:nvSpPr>
        <p:spPr>
          <a:xfrm>
            <a:off x="8961120" y="1527048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Materiales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4"/>
          <p:cNvSpPr txBox="1"/>
          <p:nvPr/>
        </p:nvSpPr>
        <p:spPr>
          <a:xfrm>
            <a:off x="8321040" y="2148840"/>
            <a:ext cx="3108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Equipos propios y librerías open source (Flutter, FastAPI, PostgreSQL, Docker) — sin costo de licencias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4"/>
          <p:cNvSpPr/>
          <p:nvPr/>
        </p:nvSpPr>
        <p:spPr>
          <a:xfrm>
            <a:off x="548640" y="3657600"/>
            <a:ext cx="3474720" cy="2011680"/>
          </a:xfrm>
          <a:prstGeom prst="roundRect">
            <a:avLst>
              <a:gd fmla="val 4091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F3A3C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14"/>
          <p:cNvSpPr/>
          <p:nvPr/>
        </p:nvSpPr>
        <p:spPr>
          <a:xfrm>
            <a:off x="731520" y="3840480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14"/>
          <p:cNvSpPr txBox="1"/>
          <p:nvPr/>
        </p:nvSpPr>
        <p:spPr>
          <a:xfrm>
            <a:off x="731520" y="384048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✅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4"/>
          <p:cNvSpPr txBox="1"/>
          <p:nvPr/>
        </p:nvSpPr>
        <p:spPr>
          <a:xfrm>
            <a:off x="1371600" y="3858768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A favor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4"/>
          <p:cNvSpPr txBox="1"/>
          <p:nvPr/>
        </p:nvSpPr>
        <p:spPr>
          <a:xfrm>
            <a:off x="731520" y="4480560"/>
            <a:ext cx="3108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El equipo ya maneja las tecnologías definidas y cuenta con roles claros por módulo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4"/>
          <p:cNvSpPr/>
          <p:nvPr/>
        </p:nvSpPr>
        <p:spPr>
          <a:xfrm>
            <a:off x="4343400" y="3657600"/>
            <a:ext cx="3474720" cy="2011680"/>
          </a:xfrm>
          <a:prstGeom prst="roundRect">
            <a:avLst>
              <a:gd fmla="val 4091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F3A3C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4"/>
          <p:cNvSpPr/>
          <p:nvPr/>
        </p:nvSpPr>
        <p:spPr>
          <a:xfrm>
            <a:off x="4526280" y="3840480"/>
            <a:ext cx="502920" cy="50292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14"/>
          <p:cNvSpPr txBox="1"/>
          <p:nvPr/>
        </p:nvSpPr>
        <p:spPr>
          <a:xfrm>
            <a:off x="4526280" y="384048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⚠️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4"/>
          <p:cNvSpPr txBox="1"/>
          <p:nvPr/>
        </p:nvSpPr>
        <p:spPr>
          <a:xfrm>
            <a:off x="5166360" y="3858768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Riesgos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4"/>
          <p:cNvSpPr txBox="1"/>
          <p:nvPr/>
        </p:nvSpPr>
        <p:spPr>
          <a:xfrm>
            <a:off x="4526280" y="4480560"/>
            <a:ext cx="3108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Coordinación de horarios y curva de aprendizaje del módulo de IA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4"/>
          <p:cNvSpPr/>
          <p:nvPr/>
        </p:nvSpPr>
        <p:spPr>
          <a:xfrm>
            <a:off x="8138160" y="3657600"/>
            <a:ext cx="3474720" cy="2011680"/>
          </a:xfrm>
          <a:prstGeom prst="roundRect">
            <a:avLst>
              <a:gd fmla="val 4091" name="adj"/>
            </a:avLst>
          </a:prstGeom>
          <a:solidFill>
            <a:srgbClr val="FFFFFF"/>
          </a:solidFill>
          <a:ln cap="flat" cmpd="sng" w="12700">
            <a:solidFill>
              <a:srgbClr val="DCEDE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F3A3C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4"/>
          <p:cNvSpPr/>
          <p:nvPr/>
        </p:nvSpPr>
        <p:spPr>
          <a:xfrm>
            <a:off x="8321040" y="3840480"/>
            <a:ext cx="502920" cy="50292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14"/>
          <p:cNvSpPr txBox="1"/>
          <p:nvPr/>
        </p:nvSpPr>
        <p:spPr>
          <a:xfrm>
            <a:off x="8321040" y="384048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🛡️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4"/>
          <p:cNvSpPr txBox="1"/>
          <p:nvPr/>
        </p:nvSpPr>
        <p:spPr>
          <a:xfrm>
            <a:off x="8961120" y="3858768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B2E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0B2B2E"/>
                </a:solidFill>
                <a:latin typeface="Calibri"/>
                <a:ea typeface="Calibri"/>
                <a:cs typeface="Calibri"/>
                <a:sym typeface="Calibri"/>
              </a:rPr>
              <a:t>Mitigación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4"/>
          <p:cNvSpPr txBox="1"/>
          <p:nvPr/>
        </p:nvSpPr>
        <p:spPr>
          <a:xfrm>
            <a:off x="8321040" y="4480560"/>
            <a:ext cx="3108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Reuniones semanales fijas; IA como funcionalidad de menor prioridad en el backlog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4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Perfil Médico+  ·  Capstone_005D · Grupo 7  ·  PTY4614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4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7A7C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3D42"/>
        </a:solidFill>
      </p:bgPr>
    </p:bg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15"/>
          <p:cNvSpPr/>
          <p:nvPr/>
        </p:nvSpPr>
        <p:spPr>
          <a:xfrm>
            <a:off x="8686800" y="-1645920"/>
            <a:ext cx="5486400" cy="5486400"/>
          </a:xfrm>
          <a:prstGeom prst="ellipse">
            <a:avLst/>
          </a:prstGeom>
          <a:solidFill>
            <a:srgbClr val="028090">
              <a:alpha val="2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15"/>
          <p:cNvSpPr txBox="1"/>
          <p:nvPr/>
        </p:nvSpPr>
        <p:spPr>
          <a:xfrm>
            <a:off x="822960" y="2103120"/>
            <a:ext cx="96012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Cambria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Perfil Médico+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5"/>
          <p:cNvSpPr txBox="1"/>
          <p:nvPr/>
        </p:nvSpPr>
        <p:spPr>
          <a:xfrm>
            <a:off x="822960" y="3063240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896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rgbClr val="00A896"/>
                </a:solidFill>
                <a:latin typeface="Calibri"/>
                <a:ea typeface="Calibri"/>
                <a:cs typeface="Calibri"/>
                <a:sym typeface="Calibri"/>
              </a:rPr>
              <a:t>Planificar → Recordar → Confirmar → Monitorear → Alertar → Acompañar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5"/>
          <p:cNvSpPr txBox="1"/>
          <p:nvPr/>
        </p:nvSpPr>
        <p:spPr>
          <a:xfrm>
            <a:off x="822960" y="393192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Muchas gracias — preguntas y comentarios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5"/>
          <p:cNvSpPr txBox="1"/>
          <p:nvPr/>
        </p:nvSpPr>
        <p:spPr>
          <a:xfrm>
            <a:off x="822960" y="539496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C6C6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FC6C6"/>
                </a:solidFill>
                <a:latin typeface="Calibri"/>
                <a:ea typeface="Calibri"/>
                <a:cs typeface="Calibri"/>
                <a:sym typeface="Calibri"/>
              </a:rPr>
              <a:t>github.com/Bvnjvmin/Perfil-Medico-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5"/>
          <p:cNvSpPr txBox="1"/>
          <p:nvPr/>
        </p:nvSpPr>
        <p:spPr>
          <a:xfrm>
            <a:off x="822960" y="57150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Benjamín Leiva  ·  Sergio Ocares  ·  Matías Pizarro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2026-09-01T19:14:19Z</dcterms:created>
  <dc:creator>PptxGenJS</dc:creator>
</cp:coreProperties>
</file>