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3D42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-1280160"/>
            <a:ext cx="5029200" cy="5029200"/>
          </a:xfrm>
          <a:prstGeom prst="ellipse">
            <a:avLst/>
          </a:prstGeom>
          <a:solidFill>
            <a:srgbClr val="02809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607040" y="4206240"/>
            <a:ext cx="3108960" cy="3108960"/>
          </a:xfrm>
          <a:prstGeom prst="ellipse">
            <a:avLst/>
          </a:prstGeom>
          <a:solidFill>
            <a:srgbClr val="02C39A">
              <a:alpha val="2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PTY4614 · Fase 1 — Definición del Proyecto APT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828800"/>
            <a:ext cx="9601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6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4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salud personal y familiar, centralizada y acompañada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21208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Capstone_005D · Grupo 7 · Ingeniería en Informática · Sede Plaza Oeste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577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Ocarez  ·  Matías Pizarro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3444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situación aborda el proyecto y a quién afecta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23444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 Perfil Médico+ y cómo funciona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3444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Encaje con el perfil de egreso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Competencias e intereses profesionales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4928616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49286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4873752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239512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y específicos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55080" y="141732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355080" y="1417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040880" y="13624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y tecnología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7040880" y="1728216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y roles del equipo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355080" y="2587752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35508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2532888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trabajo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2898648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Metodología, cronograma y evidencias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355080" y="3758184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55080" y="37581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7040880" y="370332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7040880" y="4069080"/>
            <a:ext cx="4617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Tiempo, recursos y riesgos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6492240" cy="475488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68680" y="16002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gestionada a pedazos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057400"/>
            <a:ext cx="5852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familias administran horas médicas, medicamentos, tratamientos y controles de salud repartidos entre papeles, fotos de recetas, calendarios, WhatsApp y alarmas del teléfono.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dispersión genera desorganización, pérdida de información y falta de seguimiento — especialmente crítico en adultos mayores, personas con enfermedades crónicas y quienes requieren apoyo permanente.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68680" y="4434840"/>
            <a:ext cx="5852160" cy="0"/>
          </a:xfrm>
          <a:prstGeom prst="line">
            <a:avLst/>
          </a:prstGeom>
          <a:noFill/>
          <a:ln w="12700">
            <a:solidFill>
              <a:srgbClr val="DCED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45720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Contexto: familias de la Región Metropolitana de Chile.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89204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quién impacta: adultos mayores · pacientes crónicos · niños · sus cuidadores y familiares.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0" y="1371600"/>
            <a:ext cx="4343400" cy="4754880"/>
          </a:xfrm>
          <a:prstGeom prst="roundRect">
            <a:avLst>
              <a:gd name="adj" fmla="val 2105"/>
            </a:avLst>
          </a:prstGeom>
          <a:solidFill>
            <a:srgbClr val="0B3D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35240" y="16459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importa?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635240" y="2148840"/>
            <a:ext cx="3749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real de omitir medicamentos o controles médicos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Cuidadores no siempre pueden estar físicamente presentes</a:t>
            </a:r>
            <a:endParaRPr lang="en-US" sz="1300" dirty="0"/>
          </a:p>
          <a:p>
            <a:pPr marL="342900" indent="-342900">
              <a:spcAft>
                <a:spcPts val="1200"/>
              </a:spcAft>
              <a:buSzPct val="100000"/>
              <a:buChar char="▪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existe una fuente única de verdad sobre el estado de salud de la persona a cargo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solución: Perfil Médico+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móvil y web que centraliza la salud personal y familiar bajo un modelo de cuenta titular con perfiles dependientes, con seguimiento continuo de actividades de cuidado.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2161032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435352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45080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08504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Recordar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4047744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322064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31792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395216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934456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208776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318504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281928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821168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8095488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205216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168640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Alertar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707880" y="3154680"/>
            <a:ext cx="576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9982200" y="2743200"/>
            <a:ext cx="1630680" cy="1371600"/>
          </a:xfrm>
          <a:prstGeom prst="roundRect">
            <a:avLst>
              <a:gd name="adj" fmla="val 6000"/>
            </a:avLst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91928" y="28346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055352" y="3246120"/>
            <a:ext cx="14843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Acompañar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4526280"/>
            <a:ext cx="10789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una actividad de cuidado (medicamento, comida, hidratación) no se confirma a tiempo, el sistema escala el aviso hasta notificar al cuidador autorizado — sin asumir automáticamente una emergencia.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5486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 (Flutter)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51460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0A89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51460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48056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C39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48056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(PostgreSQL)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949440" y="5577840"/>
            <a:ext cx="1737360" cy="347472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949440" y="55778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diferenciador: cuenta titular + perfiles dependientes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usuario titular puede vincular y hacer seguimiento de personas a su cargo — un padre adulto mayor, un hijo — desde una sola cuenta, con permisos configurables sobre qué información puede ver cada cuidador.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914400" y="3108960"/>
            <a:ext cx="210312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914400" y="4023360"/>
            <a:ext cx="210312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6" name="Shape 4"/>
          <p:cNvSpPr/>
          <p:nvPr/>
        </p:nvSpPr>
        <p:spPr>
          <a:xfrm>
            <a:off x="3017520" y="3108960"/>
            <a:ext cx="2286000" cy="91440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7" name="Shape 5"/>
          <p:cNvSpPr/>
          <p:nvPr/>
        </p:nvSpPr>
        <p:spPr>
          <a:xfrm>
            <a:off x="3017520" y="4023360"/>
            <a:ext cx="2286000" cy="1463040"/>
          </a:xfrm>
          <a:prstGeom prst="line">
            <a:avLst/>
          </a:prstGeom>
          <a:noFill/>
          <a:ln w="25400">
            <a:solidFill>
              <a:srgbClr val="BFDCDA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274320" y="246888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432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(padre AM)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74320" y="4846320"/>
            <a:ext cx="1280160" cy="128016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432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dependiente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(hijo)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663440" y="246888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663440" y="2468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663440" y="4846320"/>
            <a:ext cx="1280160" cy="128016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663440" y="484632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invitado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103120" y="3108960"/>
            <a:ext cx="1828800" cy="1828800"/>
          </a:xfrm>
          <a:prstGeom prst="ellipse">
            <a:avLst/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103120" y="3108960"/>
            <a:ext cx="1828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0" y="1737360"/>
            <a:ext cx="43434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101600" dist="38100" dir="5400000">
              <a:srgbClr val="1F3A3C">
                <a:alpha val="1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589520" y="1965960"/>
            <a:ext cx="38404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titular administra su propio perfil de salud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crear perfiles dependientes para familiares a su cargo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medicamentos, rutinas de cuidado e indicadores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Invita cuidadores adicionales con permisos configurables por perfil</a:t>
            </a:r>
            <a:endParaRPr lang="en-US" sz="1250" dirty="0"/>
          </a:p>
          <a:p>
            <a:pPr marL="342900" indent="-342900">
              <a:spcAft>
                <a:spcPts val="1400"/>
              </a:spcAft>
              <a:buSzPct val="100000"/>
              <a:buChar char="▪"/>
            </a:pPr>
            <a:r>
              <a:rPr lang="en-US" sz="12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confirma actividades y escala alertas solo cuando se requiere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Pertinencia con el perfil de egreso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proyecto integra de forma articulada las competencias de especialidad de Ingeniería en Informática, en las áreas de Desarrollo de Software y Gestión de Proyectos Informáticos.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208483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20391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Gestionar proyectos informáticos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203911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Planificación por sprints y Product Backlog priorizado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295351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90779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modelos de datos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40680" y="290779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relacional escalable: cuentas, perfiles dependientes, rutinas, permisos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7033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38221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3822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77647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una solución de software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77647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(FastAPI) + aplicación móvil (Flutter) integrados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572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E9F5F4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4690872"/>
            <a:ext cx="457200" cy="45720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4690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64515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Realizar pruebas de certificación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464515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calidad sobre cada módulo entregado en Fase 2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406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555955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5559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5138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en inglés (nivel elemental)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440680" y="5513832"/>
            <a:ext cx="5806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Abstract, conclusiones y reflexiones del proyecto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389120"/>
            <a:ext cx="4572000" cy="4572000"/>
          </a:xfrm>
          <a:prstGeom prst="ellipse">
            <a:avLst/>
          </a:prstGeom>
          <a:solidFill>
            <a:srgbClr val="028090">
              <a:alpha val="25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822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general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875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Desarrollar Perfil Médico+, una aplicación móvil con backend web que centralice la salud personal y familiar mediante un modelo de cuenta titular con perfiles dependientes, gestionando rutinas de cuidado y generando alertas configurables hacia los cuidadores autorizados.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4904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61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autenticación y gestión de cuentas titulares con creación/vinculación de perfiles dependientes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63640" y="13258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46520" y="14904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6520" y="1490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976872" y="14173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registro y seguimiento de rutinas de cuidado (medicamentos, alimentación, hidratación) con confirmación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31668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61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Diseñar permisos configurables para invitar cuidadores adicionales a un perfil dependiente específico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63640" y="30022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46520" y="316687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46520" y="3166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30937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Construir recordatorios y alertas escalonadas ante actividades no confirmadas a tiempo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31520" y="484327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261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Incorporar indicadores de salud e historial de cumplimiento visualizable mediante gráficos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63640" y="4678680"/>
            <a:ext cx="5349240" cy="1356360"/>
          </a:xfrm>
          <a:prstGeom prst="roundRect">
            <a:avLst>
              <a:gd name="adj" fmla="val 606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446520" y="4843272"/>
            <a:ext cx="384048" cy="384048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46520" y="48432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976872" y="4770120"/>
            <a:ext cx="4434840" cy="117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un módulo de orientación general basado en IA sobre la información registrada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y tecnologías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Flutter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Paciente · Adulto mayor · Cuidador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447288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447288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FastAPI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538728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 · JWT · Roles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5961888" y="1691640"/>
            <a:ext cx="384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345936" y="1417320"/>
            <a:ext cx="2514600" cy="1051560"/>
          </a:xfrm>
          <a:prstGeom prst="roundRect">
            <a:avLst>
              <a:gd name="adj" fmla="val 6957"/>
            </a:avLst>
          </a:prstGeom>
          <a:solidFill>
            <a:srgbClr val="02C39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345936" y="152704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437376" y="192024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Cuentas, perfiles, rutinas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272016" y="128016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272016" y="128016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LLM externa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272016" y="2011680"/>
            <a:ext cx="2340864" cy="640080"/>
          </a:xfrm>
          <a:prstGeom prst="roundRect">
            <a:avLst>
              <a:gd name="adj" fmla="val 11429"/>
            </a:avLst>
          </a:prstGeom>
          <a:solidFill>
            <a:srgbClr val="0B3D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72016" y="2011680"/>
            <a:ext cx="2340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Alertas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80360"/>
          <a:ext cx="11064240" cy="3291840"/>
        </p:xfrm>
        <a:graphic>
          <a:graphicData uri="http://schemas.openxmlformats.org/drawingml/2006/table">
            <a:tbl>
              <a:tblPr/>
              <a:tblGrid>
                <a:gridCol w="1737360"/>
                <a:gridCol w="2377440"/>
                <a:gridCol w="6949440"/>
              </a:tblGrid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Motivo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2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 móvil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Flutter (Dart)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solo código para iOS y Android; ideal para equipo chico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Backend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(Python)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Endpoints rápidos, validación automática, docs Swagger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Relacional, ajustada a datos interrelacionados del paciente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JWT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Distingue cuenta titular / perfiles dependientes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Módulo 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API de LLM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Consultas básicas de síntomas, sin entrenar modelo propio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026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UI/UX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Figma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2B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Definir pantallas y flujos antes de programar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D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5F4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 de trabajo y roles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70432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ágil (Scrum), con sprints quincenales durante la Fase 2: Sprint Planning, seguimiento breve, demo de cierre y retrospectiva. Una historia se considera terminada (Definition of Done) cuando está integrada, probada y documentada en GitHub.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8090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423160"/>
            <a:ext cx="3520440" cy="411480"/>
          </a:xfrm>
          <a:prstGeom prst="rect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7724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+ FastAPI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REST, autenticación JWT, lógica de negocio, integración de notificaciones e IA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4340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34340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3400" y="2423160"/>
            <a:ext cx="3520440" cy="411480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Sergio Ocarez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+ IA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/ API LLM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 de BD, indicadores y reportes de cumplimiento, integración del módulo de IA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201168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3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38160" y="2011680"/>
            <a:ext cx="3520440" cy="822960"/>
          </a:xfrm>
          <a:prstGeom prst="roundRect">
            <a:avLst>
              <a:gd name="adj" fmla="val 11111"/>
            </a:avLst>
          </a:prstGeom>
          <a:solidFill>
            <a:srgbClr val="02C39A"/>
          </a:solidFill>
          <a:ln/>
        </p:spPr>
      </p:sp>
      <p:sp>
        <p:nvSpPr>
          <p:cNvPr id="20" name="Shape 18"/>
          <p:cNvSpPr/>
          <p:nvPr/>
        </p:nvSpPr>
        <p:spPr>
          <a:xfrm>
            <a:off x="8138160" y="2423160"/>
            <a:ext cx="3520440" cy="411480"/>
          </a:xfrm>
          <a:prstGeom prst="rect">
            <a:avLst/>
          </a:prstGeom>
          <a:solidFill>
            <a:srgbClr val="02C39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366760" y="212140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Matías Pizarro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366760" y="2450592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8366760" y="3017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/ Dart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429000"/>
            <a:ext cx="30632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para titular y perfiles dependientes, experiencia de usuario accesible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de trabajo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155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 de 18 semanas · 3 fases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458720" cy="777240"/>
          </a:xfrm>
          <a:prstGeom prst="roundRect">
            <a:avLst>
              <a:gd name="adj" fmla="val 7059"/>
            </a:avLst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883664"/>
            <a:ext cx="227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94560"/>
            <a:ext cx="227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Definición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395728"/>
            <a:ext cx="227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007360" y="1828800"/>
            <a:ext cx="6761480" cy="777240"/>
          </a:xfrm>
          <a:prstGeom prst="roundRect">
            <a:avLst>
              <a:gd name="adj" fmla="val 7059"/>
            </a:avLst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098800" y="1883664"/>
            <a:ext cx="6578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098800" y="2194560"/>
            <a:ext cx="657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Desarrollo (6 sprints)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098800" y="2395728"/>
            <a:ext cx="657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S15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768840" y="1828800"/>
            <a:ext cx="1844040" cy="777240"/>
          </a:xfrm>
          <a:prstGeom prst="roundRect">
            <a:avLst>
              <a:gd name="adj" fmla="val 7059"/>
            </a:avLst>
          </a:prstGeom>
          <a:solidFill>
            <a:srgbClr val="02C39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60280" y="1883664"/>
            <a:ext cx="1661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60280" y="2194560"/>
            <a:ext cx="1661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860280" y="2395728"/>
            <a:ext cx="1661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S16 – S18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007360" y="1691640"/>
            <a:ext cx="0" cy="1051560"/>
          </a:xfrm>
          <a:prstGeom prst="line">
            <a:avLst/>
          </a:prstGeom>
          <a:noFill/>
          <a:ln w="25400">
            <a:solidFill>
              <a:srgbClr val="0B3D42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2367280" y="13258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3D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Estamos aquí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8580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(S5-6)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Autenticación, modelo de datos, estructura base app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31292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5008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(S7-8)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45008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Medicamentos y rutinas: API + UI conectadas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77200" y="297180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14360" y="304495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3 (S9-10)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214360" y="331927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Perfiles dependientes y permisos · Informe de Avance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864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4 (S11-12)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Recordatorios, alertas e interfaz simplificada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31292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008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5 (S13-14)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445008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salud, historial y módulo de IA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077200" y="3977640"/>
            <a:ext cx="353568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214360" y="4050792"/>
            <a:ext cx="326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6 (S15)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214360" y="4325112"/>
            <a:ext cx="326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integrales, documentación e Informe Final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Evidencias planificadas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2809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avance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77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GitHub actualizado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del módulo de autenticación, modelo de datos y estructura base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48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de Avance Proyecto APT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del estado de desarrollo y objetivos/metodología ajustados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63640" y="1280160"/>
            <a:ext cx="5349240" cy="502920"/>
          </a:xfrm>
          <a:prstGeom prst="roundRect">
            <a:avLst>
              <a:gd name="adj" fmla="val 12727"/>
            </a:avLst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63640" y="128016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Finales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263640" y="196596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213055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funcional + backend (Docker)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62432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del MVP integrados y operativos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3931920"/>
            <a:ext cx="53492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965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 Final + manual técnico + README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590288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completa, arquitectura y despliegue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Fase 1 el proyecto está en etapa de definición y planificación; los indicadores de implementación se evidenciarán en Fase 2.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3D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Factibilidad del proyecto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🕒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semanas de semestre, con 11 semanas de desarrollo intensivo en Fase 2</a:t>
            </a:r>
            <a:endParaRPr lang="en-US" sz="108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26280" y="15087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2628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16636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asignadas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CAPSTONE: 20 créditos (10 trabajo docente + 10 trabajo autónomo)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38160" y="132588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150876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21040" y="1508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🧰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52704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Materiales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14884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Equipos propios y librerías open source (Flutter, FastAPI, PostgreSQL, Docker) — sin costo de licencias</a:t>
            </a:r>
            <a:endParaRPr lang="en-US" sz="1080" dirty="0"/>
          </a:p>
        </p:txBody>
      </p:sp>
      <p:sp>
        <p:nvSpPr>
          <p:cNvPr id="18" name="Shape 16"/>
          <p:cNvSpPr/>
          <p:nvPr/>
        </p:nvSpPr>
        <p:spPr>
          <a:xfrm>
            <a:off x="54864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31520" y="384048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favor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73152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ya maneja las tecnologías definidas y cuenta con roles claros por módulo</a:t>
            </a:r>
            <a:endParaRPr lang="en-US" sz="1080" dirty="0"/>
          </a:p>
        </p:txBody>
      </p:sp>
      <p:sp>
        <p:nvSpPr>
          <p:cNvPr id="23" name="Shape 21"/>
          <p:cNvSpPr/>
          <p:nvPr/>
        </p:nvSpPr>
        <p:spPr>
          <a:xfrm>
            <a:off x="434340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526280" y="384048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52628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16636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452628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Coordinación de horarios y curva de aprendizaje del módulo de IA</a:t>
            </a:r>
            <a:endParaRPr lang="en-US" sz="1080" dirty="0"/>
          </a:p>
        </p:txBody>
      </p:sp>
      <p:sp>
        <p:nvSpPr>
          <p:cNvPr id="28" name="Shape 26"/>
          <p:cNvSpPr/>
          <p:nvPr/>
        </p:nvSpPr>
        <p:spPr>
          <a:xfrm>
            <a:off x="8138160" y="365760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DCEDEC"/>
            </a:solidFill>
            <a:prstDash val="solid"/>
          </a:ln>
          <a:effectLst>
            <a:outerShdw sx="100000" sy="100000" kx="0" ky="0" algn="bl" rotWithShape="0" blurRad="76200" dist="25400" dir="5400000">
              <a:srgbClr val="1F3A3C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21040" y="3840480"/>
            <a:ext cx="502920" cy="502920"/>
          </a:xfrm>
          <a:prstGeom prst="ellipse">
            <a:avLst/>
          </a:prstGeom>
          <a:solidFill>
            <a:srgbClr val="02C39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321040" y="3840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🛡️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0" y="38587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8321040" y="44805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Reuniones semanales fijas; IA como funcionalidad de menor prioridad en el backlog</a:t>
            </a:r>
            <a:endParaRPr lang="en-US" sz="108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Médico+  ·  Capstone_005D · Grupo 7  ·  PTY4614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152144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A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3D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645920"/>
            <a:ext cx="5486400" cy="5486400"/>
          </a:xfrm>
          <a:prstGeom prst="ellipse">
            <a:avLst/>
          </a:prstGeom>
          <a:solidFill>
            <a:srgbClr val="028090">
              <a:alpha val="28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10312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Perfil Médico+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06324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Planificar → Recordar → Confirmar → Monitorear → Alertar → Acompañar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Muchas gracias — preguntas y comentarios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5394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6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github.com/Bvnjvmin/Perfil-Medico-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715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Benjamín Leiva  ·  Sergio Ocarez  ·  Matías Pizarro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2026-08-27T16:25:48Z</dcterms:created>
  <dcterms:modified xsi:type="dcterms:W3CDTF">2026-08-27T16:25:48Z</dcterms:modified>
</cp:coreProperties>
</file>