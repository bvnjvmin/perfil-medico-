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D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3D42"/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-1280160"/>
            <a:ext cx="5029200" cy="5029200"/>
          </a:xfrm>
          <a:prstGeom prst="ellipse">
            <a:avLst/>
          </a:prstGeom>
          <a:solidFill>
            <a:srgbClr val="028090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607040" y="4206240"/>
            <a:ext cx="3108960" cy="3108960"/>
          </a:xfrm>
          <a:prstGeom prst="ellipse">
            <a:avLst/>
          </a:prstGeom>
          <a:solidFill>
            <a:srgbClr val="02C39A">
              <a:alpha val="25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41732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· PTY4614 · Fase 1 — Definición del Proyecto APT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828800"/>
            <a:ext cx="9601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Perfil Médico+</a:t>
            </a:r>
            <a:endParaRPr lang="en-US" sz="6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0632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F4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salud personal y familiar, centralizada y acompañada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521208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C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Capstone_005D · Grupo 7 · Ingeniería en Informática · Sede Plaza Oeste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55778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Benjamín Leiva  ·  Sergio Ocares  ·  Matías Pizarro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3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1362456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728216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situación aborda el proyecto y a quién afecta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8640" y="2587752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5877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2532888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2898648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Perfil Médico+ y cómo funciona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3758184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37581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370332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Encaje con el perfil de egreso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4069080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Competencias e intereses profesionales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4928616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49286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4873752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5239512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y específicos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355080" y="141732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35508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7040880" y="1362456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y tecnología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040880" y="1728216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y roles del equipo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355080" y="2587752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355080" y="25877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7040880" y="2532888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trabajo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7040880" y="2898648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Metodología, cronograma y evidencias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355080" y="3758184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355080" y="37581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7040880" y="370332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Factibilidad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7040880" y="4069080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Tiempo, recursos y riesgos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Médico+  ·  Capstone_005D · Grupo 7  ·  PTY4614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3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problema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6492240" cy="4754880"/>
          </a:xfrm>
          <a:prstGeom prst="roundRect">
            <a:avLst>
              <a:gd name="adj" fmla="val 1923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101600" dist="38100" dir="5400000">
              <a:srgbClr val="1F3A3C">
                <a:alpha val="1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68680" y="160020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Salud gestionada a pedazos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057400"/>
            <a:ext cx="5852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Muchas familias administran horas médicas, medicamentos, tratamientos y controles de salud repartidos entre papeles, fotos de recetas, calendarios, WhatsApp y alarmas del teléfono.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dispersión genera desorganización, pérdida de información y falta de seguimiento — especialmente crítico en adultos mayores, personas con enfermedades crónicas y quienes requieren apoyo permanente.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68680" y="4434840"/>
            <a:ext cx="5852160" cy="0"/>
          </a:xfrm>
          <a:prstGeom prst="line">
            <a:avLst/>
          </a:prstGeom>
          <a:noFill/>
          <a:ln w="12700">
            <a:solidFill>
              <a:srgbClr val="DCEDE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457200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Contexto: familias de la Región Metropolitana de Chile.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89204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quién impacta: adultos mayores · pacientes crónicos · niños · sus cuidadores y familiares.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315200" y="1371600"/>
            <a:ext cx="4343400" cy="4754880"/>
          </a:xfrm>
          <a:prstGeom prst="roundRect">
            <a:avLst>
              <a:gd name="adj" fmla="val 2105"/>
            </a:avLst>
          </a:prstGeom>
          <a:solidFill>
            <a:srgbClr val="0B3D4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635240" y="164592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importa?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635240" y="2148840"/>
            <a:ext cx="37490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real de omitir medicamentos o controles médicos</a:t>
            </a:r>
            <a:endParaRPr lang="en-US" sz="1300" dirty="0"/>
          </a:p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Cuidadores no siempre pueden estar físicamente presentes</a:t>
            </a:r>
            <a:endParaRPr lang="en-US" sz="1300" dirty="0"/>
          </a:p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existe una fuente única de verdad sobre el estado de salud de la persona a cargo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Médico+  ·  Capstone_005D · Grupo 7  ·  PTY4614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3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solución: Perfil Médico+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70432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móvil que centraliza la salud personal y familiar bajo un modelo de cuenta titular con perfiles dependientes, con seguimiento continuo de actividades de cuidado.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2743200"/>
            <a:ext cx="1630680" cy="1371600"/>
          </a:xfrm>
          <a:prstGeom prst="roundRect">
            <a:avLst>
              <a:gd name="adj" fmla="val 6000"/>
            </a:avLst>
          </a:prstGeom>
          <a:solidFill>
            <a:srgbClr val="02809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58368" y="28346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3246120"/>
            <a:ext cx="14843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Planificar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2161032" y="3154680"/>
            <a:ext cx="576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435352" y="2743200"/>
            <a:ext cx="1630680" cy="1371600"/>
          </a:xfrm>
          <a:prstGeom prst="roundRect">
            <a:avLst>
              <a:gd name="adj" fmla="val 6000"/>
            </a:avLst>
          </a:prstGeom>
          <a:solidFill>
            <a:srgbClr val="00A89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545080" y="28346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2508504" y="3246120"/>
            <a:ext cx="14843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Recordar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047744" y="3154680"/>
            <a:ext cx="576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322064" y="2743200"/>
            <a:ext cx="1630680" cy="1371600"/>
          </a:xfrm>
          <a:prstGeom prst="roundRect">
            <a:avLst>
              <a:gd name="adj" fmla="val 6000"/>
            </a:avLst>
          </a:prstGeom>
          <a:solidFill>
            <a:srgbClr val="02C39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431792" y="28346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395216" y="3246120"/>
            <a:ext cx="14843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Confirmar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934456" y="3154680"/>
            <a:ext cx="576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208776" y="2743200"/>
            <a:ext cx="1630680" cy="1371600"/>
          </a:xfrm>
          <a:prstGeom prst="roundRect">
            <a:avLst>
              <a:gd name="adj" fmla="val 6000"/>
            </a:avLst>
          </a:prstGeom>
          <a:solidFill>
            <a:srgbClr val="02809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318504" y="28346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281928" y="3246120"/>
            <a:ext cx="14843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Monitorear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821168" y="3154680"/>
            <a:ext cx="576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8095488" y="2743200"/>
            <a:ext cx="1630680" cy="1371600"/>
          </a:xfrm>
          <a:prstGeom prst="roundRect">
            <a:avLst>
              <a:gd name="adj" fmla="val 6000"/>
            </a:avLst>
          </a:prstGeom>
          <a:solidFill>
            <a:srgbClr val="00A89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205216" y="28346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8168640" y="3246120"/>
            <a:ext cx="14843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Alertar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9707880" y="3154680"/>
            <a:ext cx="576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9982200" y="2743200"/>
            <a:ext cx="1630680" cy="1371600"/>
          </a:xfrm>
          <a:prstGeom prst="roundRect">
            <a:avLst>
              <a:gd name="adj" fmla="val 6000"/>
            </a:avLst>
          </a:prstGeom>
          <a:solidFill>
            <a:srgbClr val="02C39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0091928" y="28346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055352" y="3246120"/>
            <a:ext cx="14843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Acompañar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452628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Cuando una actividad de cuidado (medicamento, comida, hidratación) no se confirma a tiempo, el sistema escala el aviso hasta notificar al cuidador autorizado — sin asumir automáticamente una emergencia.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548640" y="5577840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48640" y="55778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móvil (Flutter)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514600" y="5577840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00A89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2514600" y="55778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(FastAPI)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480560" y="5577840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480560" y="55778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 (PostgreSQL)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949440" y="5577840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949440" y="55778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de IA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Médico+  ·  Capstone_005D · Grupo 7  ·  PTY4614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diferenciador: cuenta titular + perfiles dependientes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usuario titular puede vincular y hacer seguimiento de personas a su cargo — un padre adulto mayor, un hijo — desde una sola cuenta, con permisos configurables sobre qué información puede ver cada cuidador.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914400" y="3108960"/>
            <a:ext cx="2103120" cy="914400"/>
          </a:xfrm>
          <a:prstGeom prst="line">
            <a:avLst/>
          </a:prstGeom>
          <a:noFill/>
          <a:ln w="25400">
            <a:solidFill>
              <a:srgbClr val="BFDCDA"/>
            </a:solidFill>
            <a:prstDash val="dash"/>
          </a:ln>
        </p:spPr>
      </p:sp>
      <p:sp>
        <p:nvSpPr>
          <p:cNvPr id="5" name="Shape 3"/>
          <p:cNvSpPr/>
          <p:nvPr/>
        </p:nvSpPr>
        <p:spPr>
          <a:xfrm>
            <a:off x="914400" y="4023360"/>
            <a:ext cx="2103120" cy="1463040"/>
          </a:xfrm>
          <a:prstGeom prst="line">
            <a:avLst/>
          </a:prstGeom>
          <a:noFill/>
          <a:ln w="25400">
            <a:solidFill>
              <a:srgbClr val="BFDCDA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>
            <a:off x="3017520" y="3108960"/>
            <a:ext cx="2286000" cy="914400"/>
          </a:xfrm>
          <a:prstGeom prst="line">
            <a:avLst/>
          </a:prstGeom>
          <a:noFill/>
          <a:ln w="25400">
            <a:solidFill>
              <a:srgbClr val="BFDCDA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3017520" y="4023360"/>
            <a:ext cx="2286000" cy="1463040"/>
          </a:xfrm>
          <a:prstGeom prst="line">
            <a:avLst/>
          </a:prstGeom>
          <a:noFill/>
          <a:ln w="25400">
            <a:solidFill>
              <a:srgbClr val="BFDCDA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274320" y="2468880"/>
            <a:ext cx="1280160" cy="12801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74320" y="246888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dependiente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(padre AM)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74320" y="4846320"/>
            <a:ext cx="1280160" cy="12801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74320" y="484632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dependiente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(hijo)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663440" y="2468880"/>
            <a:ext cx="1280160" cy="128016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663440" y="246888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Cuidador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invitado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63440" y="4846320"/>
            <a:ext cx="1280160" cy="128016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663440" y="484632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Cuidador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invitado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103120" y="3108960"/>
            <a:ext cx="1828800" cy="1828800"/>
          </a:xfrm>
          <a:prstGeom prst="ellipse">
            <a:avLst/>
          </a:prstGeom>
          <a:solidFill>
            <a:srgbClr val="0B3D4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2103120" y="310896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Titular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7315200" y="1737360"/>
            <a:ext cx="4343400" cy="429768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101600" dist="38100" dir="5400000">
              <a:srgbClr val="1F3A3C">
                <a:alpha val="15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7589520" y="1965960"/>
            <a:ext cx="38404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2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titular administra su propio perfil de salud</a:t>
            </a:r>
            <a:endParaRPr lang="en-US" sz="1250" dirty="0"/>
          </a:p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2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Puede crear perfiles dependientes para familiares a su cargo</a:t>
            </a:r>
            <a:endParaRPr lang="en-US" sz="1250" dirty="0"/>
          </a:p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2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 medicamentos, rutinas de cuidado e indicadores</a:t>
            </a:r>
            <a:endParaRPr lang="en-US" sz="1250" dirty="0"/>
          </a:p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2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Invita cuidadores adicionales con permisos configurables por perfil</a:t>
            </a:r>
            <a:endParaRPr lang="en-US" sz="1250" dirty="0"/>
          </a:p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2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sistema confirma actividades y escala alertas solo cuando se requiere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Médico+  ·  Capstone_005D · Grupo 7  ·  PTY4614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3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Pertinencia con el perfil de egreso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70432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proyecto integra de forma articulada las competencias de especialidad de Ingeniería en Informática, en las áreas de Desarrollo de Software y Gestión de Proyectos Informáticos.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1088136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2084832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2084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2039112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Gestionar proyectos informáticos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40680" y="2039112"/>
            <a:ext cx="5806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Planificación por sprints y Product Backlog priorizado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834640"/>
            <a:ext cx="10881360" cy="713232"/>
          </a:xfrm>
          <a:prstGeom prst="roundRect">
            <a:avLst>
              <a:gd name="adj" fmla="val 10256"/>
            </a:avLst>
          </a:prstGeom>
          <a:solidFill>
            <a:srgbClr val="E9F5F4"/>
          </a:solidFill>
          <a:ln/>
        </p:spPr>
      </p:sp>
      <p:sp>
        <p:nvSpPr>
          <p:cNvPr id="10" name="Shape 8"/>
          <p:cNvSpPr/>
          <p:nvPr/>
        </p:nvSpPr>
        <p:spPr>
          <a:xfrm>
            <a:off x="713232" y="2953512"/>
            <a:ext cx="457200" cy="45720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2953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417320" y="2907792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 modelos de datos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440680" y="2907792"/>
            <a:ext cx="5806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Esquema relacional escalable: cuentas, perfiles dependientes, rutinas, permisos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703320"/>
            <a:ext cx="1088136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3822192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38221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417320" y="3776472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una solución de software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440680" y="3776472"/>
            <a:ext cx="5806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(FastAPI) + aplicación móvil (Flutter) integrados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4572000"/>
            <a:ext cx="10881360" cy="713232"/>
          </a:xfrm>
          <a:prstGeom prst="roundRect">
            <a:avLst>
              <a:gd name="adj" fmla="val 10256"/>
            </a:avLst>
          </a:prstGeom>
          <a:solidFill>
            <a:srgbClr val="E9F5F4"/>
          </a:solidFill>
          <a:ln/>
        </p:spPr>
      </p:sp>
      <p:sp>
        <p:nvSpPr>
          <p:cNvPr id="20" name="Shape 18"/>
          <p:cNvSpPr/>
          <p:nvPr/>
        </p:nvSpPr>
        <p:spPr>
          <a:xfrm>
            <a:off x="713232" y="4690872"/>
            <a:ext cx="457200" cy="45720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3232" y="46908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1417320" y="4645152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Realizar pruebas de certificación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440680" y="4645152"/>
            <a:ext cx="5806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de calidad sobre cada módulo entregado en Fase 2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5440680"/>
            <a:ext cx="1088136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/>
        </p:spPr>
      </p:sp>
      <p:sp>
        <p:nvSpPr>
          <p:cNvPr id="25" name="Shape 23"/>
          <p:cNvSpPr/>
          <p:nvPr/>
        </p:nvSpPr>
        <p:spPr>
          <a:xfrm>
            <a:off x="713232" y="5559552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5559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1417320" y="5513832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Comunicación en inglés (nivel elemental)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5440680" y="5513832"/>
            <a:ext cx="5806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Abstract, conclusiones y reflexiones del proyecto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Médico+  ·  Capstone_005D · Grupo 7  ·  PTY4614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Relación con los intereses profesionales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70432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integrante eligió su módulo dentro de Perfil Médico+ en función de hacia dónde quiere proyectarse profesionalmente.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520440" cy="416052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965960"/>
            <a:ext cx="3520440" cy="960120"/>
          </a:xfrm>
          <a:prstGeom prst="roundRect">
            <a:avLst>
              <a:gd name="adj" fmla="val 9524"/>
            </a:avLst>
          </a:prstGeom>
          <a:solidFill>
            <a:srgbClr val="028090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423160"/>
            <a:ext cx="3520440" cy="50292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49808" y="2075688"/>
            <a:ext cx="3118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Benjamín Leiva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2441448"/>
            <a:ext cx="3118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Programación + Inteligencia Artificial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3108960"/>
            <a:ext cx="3118104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 rol en el backend aplica y fortalece mis competencias de programación, mientras que integrar el módulo de IA conecta con la asignatura de Machine Learning que cursé. Me proyecto especializándome en desarrollo de software y en el área de datos e IA.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43400" y="1965960"/>
            <a:ext cx="3520440" cy="416052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3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43400" y="1965960"/>
            <a:ext cx="3520440" cy="960120"/>
          </a:xfrm>
          <a:prstGeom prst="roundRect">
            <a:avLst>
              <a:gd name="adj" fmla="val 9524"/>
            </a:avLst>
          </a:prstGeom>
          <a:solidFill>
            <a:srgbClr val="00A896"/>
          </a:solidFill>
          <a:ln/>
        </p:spPr>
      </p:sp>
      <p:sp>
        <p:nvSpPr>
          <p:cNvPr id="12" name="Shape 10"/>
          <p:cNvSpPr/>
          <p:nvPr/>
        </p:nvSpPr>
        <p:spPr>
          <a:xfrm>
            <a:off x="4343400" y="2423160"/>
            <a:ext cx="3520440" cy="50292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44568" y="2075688"/>
            <a:ext cx="3118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Sergio Ocares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544568" y="2441448"/>
            <a:ext cx="3118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 de Software (fortaleciendo BD)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4544568" y="3108960"/>
            <a:ext cx="3118104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 interés real es Calidad de Software: testear código y asegurar estándares. Bases de datos es un área que necesito reforzar según mi autoevaluación, y liderar el diseño de la BD en este proyecto es la oportunidad para hacerlo — validar la integridad de los datos es clave para asegurar la calidad de cualquier sistema.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138160" y="1965960"/>
            <a:ext cx="3520440" cy="416052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3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138160" y="1965960"/>
            <a:ext cx="3520440" cy="960120"/>
          </a:xfrm>
          <a:prstGeom prst="roundRect">
            <a:avLst>
              <a:gd name="adj" fmla="val 9524"/>
            </a:avLst>
          </a:prstGeom>
          <a:solidFill>
            <a:srgbClr val="02C39A"/>
          </a:solidFill>
          <a:ln/>
        </p:spPr>
      </p:sp>
      <p:sp>
        <p:nvSpPr>
          <p:cNvPr id="18" name="Shape 16"/>
          <p:cNvSpPr/>
          <p:nvPr/>
        </p:nvSpPr>
        <p:spPr>
          <a:xfrm>
            <a:off x="8138160" y="2423160"/>
            <a:ext cx="3520440" cy="50292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339328" y="2075688"/>
            <a:ext cx="3118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Matías Pizarro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8339328" y="2441448"/>
            <a:ext cx="3118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Programación + App móvil (Flutter)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8339328" y="3108960"/>
            <a:ext cx="3118104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 foco actual es el frontend: construir la interfaz en Flutter me permite aplicar programación y ganar experiencia real, mientras sigo fortaleciendo mi interés en desarrollo backend y gestión de datos a futuro.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Médico+  ·  Capstone_005D · Grupo 7  ·  PTY4614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3D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4389120"/>
            <a:ext cx="4572000" cy="4572000"/>
          </a:xfrm>
          <a:prstGeom prst="ellipse">
            <a:avLst/>
          </a:prstGeom>
          <a:solidFill>
            <a:srgbClr val="028090">
              <a:alpha val="25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822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general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463040"/>
            <a:ext cx="9875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Desarrollar Perfil Médico+, una aplicación móvil con backend que centralice la salud personal y familiar mediante un modelo de cuenta titular con perfiles dependientes, gestionando rutinas de cuidado y generando alertas configurables hacia los cuidadores autorizados.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Médico+  ·  Capstone_005D · Grupo 7  ·  PTY4614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3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Objetivos específicos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5349240" cy="1356360"/>
          </a:xfrm>
          <a:prstGeom prst="roundRect">
            <a:avLst>
              <a:gd name="adj" fmla="val 6067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490472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490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261872" y="1417320"/>
            <a:ext cx="4434840" cy="1173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Implementar autenticación y gestión de cuentas titulares con creación/vinculación de perfiles dependientes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263640" y="1325880"/>
            <a:ext cx="5349240" cy="1356360"/>
          </a:xfrm>
          <a:prstGeom prst="roundRect">
            <a:avLst>
              <a:gd name="adj" fmla="val 6067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46520" y="1490472"/>
            <a:ext cx="384048" cy="38404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46520" y="1490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976872" y="1417320"/>
            <a:ext cx="4434840" cy="1173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registro y seguimiento de rutinas de cuidado (medicamentos, alimentación, hidratación) con confirmación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3002280"/>
            <a:ext cx="5349240" cy="1356360"/>
          </a:xfrm>
          <a:prstGeom prst="roundRect">
            <a:avLst>
              <a:gd name="adj" fmla="val 6067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31520" y="3166872"/>
            <a:ext cx="384048" cy="38404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31520" y="3166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261872" y="3093720"/>
            <a:ext cx="4434840" cy="1173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Diseñar permisos configurables para invitar cuidadores adicionales a un perfil dependiente específico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263640" y="3002280"/>
            <a:ext cx="5349240" cy="1356360"/>
          </a:xfrm>
          <a:prstGeom prst="roundRect">
            <a:avLst>
              <a:gd name="adj" fmla="val 6067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46520" y="3166872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46520" y="3166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976872" y="3093720"/>
            <a:ext cx="4434840" cy="1173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 recordatorios y alertas escalonadas ante actividades no confirmadas a tiempo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4678680"/>
            <a:ext cx="5349240" cy="1356360"/>
          </a:xfrm>
          <a:prstGeom prst="roundRect">
            <a:avLst>
              <a:gd name="adj" fmla="val 6067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31520" y="4843272"/>
            <a:ext cx="384048" cy="38404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31520" y="4843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1261872" y="4770120"/>
            <a:ext cx="4434840" cy="1173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Incorporar indicadores de salud e historial de cumplimiento visualizable mediante gráficos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263640" y="4678680"/>
            <a:ext cx="5349240" cy="1356360"/>
          </a:xfrm>
          <a:prstGeom prst="roundRect">
            <a:avLst>
              <a:gd name="adj" fmla="val 6067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446520" y="4843272"/>
            <a:ext cx="384048" cy="38404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446520" y="4843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6976872" y="4770120"/>
            <a:ext cx="4434840" cy="1173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Integrar un módulo de orientación general basado en IA sobre la información registrada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Médico+  ·  Capstone_005D · Grupo 7  ·  PTY4614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3D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280160"/>
            <a:ext cx="5029200" cy="5029200"/>
          </a:xfrm>
          <a:prstGeom prst="ellipse">
            <a:avLst/>
          </a:prstGeom>
          <a:solidFill>
            <a:srgbClr val="028090">
              <a:alpha val="22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Diferenciadores: qué nos distingue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70432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7DE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 varios proyectos de recordatorio de medicamentos. Perfil Médico+ agrega tres funcionalidades que atacan directamente el caso del adulto mayor que vive solo o no maneja un smartphone — usando siempre tecnología de bajo costo ya existente, sin fabricar hardware propio.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3520440" cy="4023360"/>
          </a:xfrm>
          <a:prstGeom prst="roundRect">
            <a:avLst>
              <a:gd name="adj" fmla="val 2597"/>
            </a:avLst>
          </a:prstGeom>
          <a:solidFill>
            <a:srgbClr val="0E4A50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057400"/>
            <a:ext cx="3520440" cy="868680"/>
          </a:xfrm>
          <a:prstGeom prst="roundRect">
            <a:avLst>
              <a:gd name="adj" fmla="val 10526"/>
            </a:avLst>
          </a:prstGeom>
          <a:solidFill>
            <a:srgbClr val="028090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2496312"/>
            <a:ext cx="3520440" cy="429768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49808" y="2176272"/>
            <a:ext cx="3118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Pantalla en casa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2542032"/>
            <a:ext cx="3118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Tablet fija + Fully Kiosk Browser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3154680"/>
            <a:ext cx="311810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8F4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Nuestra misma app, en modo simplificado sobre una tablet montada en la casa del adulto mayor: botones grandes, confirmación de un toque y botón de emergencia — sin necesitar un smartphone propio.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43400" y="2057400"/>
            <a:ext cx="3520440" cy="4023360"/>
          </a:xfrm>
          <a:prstGeom prst="roundRect">
            <a:avLst>
              <a:gd name="adj" fmla="val 2597"/>
            </a:avLst>
          </a:prstGeom>
          <a:solidFill>
            <a:srgbClr val="0E4A50"/>
          </a:solidFill>
          <a:ln/>
        </p:spPr>
      </p:sp>
      <p:sp>
        <p:nvSpPr>
          <p:cNvPr id="12" name="Shape 10"/>
          <p:cNvSpPr/>
          <p:nvPr/>
        </p:nvSpPr>
        <p:spPr>
          <a:xfrm>
            <a:off x="4343400" y="2057400"/>
            <a:ext cx="3520440" cy="868680"/>
          </a:xfrm>
          <a:prstGeom prst="roundRect">
            <a:avLst>
              <a:gd name="adj" fmla="val 10526"/>
            </a:avLst>
          </a:prstGeom>
          <a:solidFill>
            <a:srgbClr val="00A896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3400" y="2496312"/>
            <a:ext cx="3520440" cy="429768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44568" y="2176272"/>
            <a:ext cx="3118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Pulsera inteligente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4544568" y="2542032"/>
            <a:ext cx="3118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Connect (API gratuita)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544568" y="3154680"/>
            <a:ext cx="311810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8F4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 frecuencia cardíaca y otros signos vitales desde una pulsera Xiaomi ya existente en el mercado, vía la API oficial y gratuita de Android — sin desarrollar hardware propio.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138160" y="2057400"/>
            <a:ext cx="3520440" cy="4023360"/>
          </a:xfrm>
          <a:prstGeom prst="roundRect">
            <a:avLst>
              <a:gd name="adj" fmla="val 2597"/>
            </a:avLst>
          </a:prstGeom>
          <a:solidFill>
            <a:srgbClr val="0E4A50"/>
          </a:solidFill>
          <a:ln/>
        </p:spPr>
      </p:sp>
      <p:sp>
        <p:nvSpPr>
          <p:cNvPr id="18" name="Shape 16"/>
          <p:cNvSpPr/>
          <p:nvPr/>
        </p:nvSpPr>
        <p:spPr>
          <a:xfrm>
            <a:off x="8138160" y="2057400"/>
            <a:ext cx="3520440" cy="868680"/>
          </a:xfrm>
          <a:prstGeom prst="roundRect">
            <a:avLst>
              <a:gd name="adj" fmla="val 10526"/>
            </a:avLst>
          </a:prstGeom>
          <a:solidFill>
            <a:srgbClr val="02C39A"/>
          </a:solidFill>
          <a:ln/>
        </p:spPr>
      </p:sp>
      <p:sp>
        <p:nvSpPr>
          <p:cNvPr id="19" name="Shape 17"/>
          <p:cNvSpPr/>
          <p:nvPr/>
        </p:nvSpPr>
        <p:spPr>
          <a:xfrm>
            <a:off x="8138160" y="2496312"/>
            <a:ext cx="3520440" cy="429768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339328" y="2176272"/>
            <a:ext cx="3118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ruido fuerte</a:t>
            </a:r>
            <a:endParaRPr lang="en-US" sz="1450" dirty="0"/>
          </a:p>
        </p:txBody>
      </p:sp>
      <p:sp>
        <p:nvSpPr>
          <p:cNvPr id="21" name="Text 19"/>
          <p:cNvSpPr txBox="1"/>
          <p:nvPr/>
        </p:nvSpPr>
        <p:spPr>
          <a:xfrm>
            <a:off x="8339328" y="2542032"/>
            <a:ext cx="3118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Micrófono del dispositivo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8339328" y="3154680"/>
            <a:ext cx="311810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8F4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 sonidos fuertes en el hogar (posible caída) usando el micrófono que ya trae el celular o tablet, sin sensores adicionales que fabricar o calibrar desde cero.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62636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FC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Planteadas como incrementos sobre el MVP base, a priorizar en Fase 2 según avance del equipo.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Médico+  ·  Capstone_005D · Grupo 7  ·  PTY4614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3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Arquitectura y tecnologías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2514600" cy="1051560"/>
          </a:xfrm>
          <a:prstGeom prst="roundRect">
            <a:avLst>
              <a:gd name="adj" fmla="val 6957"/>
            </a:avLst>
          </a:prstGeom>
          <a:solidFill>
            <a:srgbClr val="02809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527048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Flutter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202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Paciente · Adulto mayor · Cuidador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3063240" y="1691640"/>
            <a:ext cx="384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447288" y="1417320"/>
            <a:ext cx="2514600" cy="1051560"/>
          </a:xfrm>
          <a:prstGeom prst="roundRect">
            <a:avLst>
              <a:gd name="adj" fmla="val 6957"/>
            </a:avLst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447288" y="1527048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FastAPI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538728" y="19202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Endpoints REST · JWT · Roles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5961888" y="1691640"/>
            <a:ext cx="384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345936" y="1417320"/>
            <a:ext cx="2514600" cy="1051560"/>
          </a:xfrm>
          <a:prstGeom prst="roundRect">
            <a:avLst>
              <a:gd name="adj" fmla="val 6957"/>
            </a:avLst>
          </a:prstGeom>
          <a:solidFill>
            <a:srgbClr val="02C39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345936" y="1527048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37376" y="19202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Cuentas, perfiles, rutinas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9272016" y="1280160"/>
            <a:ext cx="2340864" cy="640080"/>
          </a:xfrm>
          <a:prstGeom prst="roundRect">
            <a:avLst>
              <a:gd name="adj" fmla="val 11429"/>
            </a:avLst>
          </a:prstGeom>
          <a:solidFill>
            <a:srgbClr val="0B3D4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272016" y="1280160"/>
            <a:ext cx="2340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LLM externa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272016" y="2011680"/>
            <a:ext cx="2340864" cy="640080"/>
          </a:xfrm>
          <a:prstGeom prst="roundRect">
            <a:avLst>
              <a:gd name="adj" fmla="val 11429"/>
            </a:avLst>
          </a:prstGeom>
          <a:solidFill>
            <a:srgbClr val="0B3D4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272016" y="2011680"/>
            <a:ext cx="2340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Notificaciones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Alertas</a:t>
            </a:r>
            <a:endParaRPr lang="en-US" sz="11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880360"/>
          <a:ext cx="11064240" cy="3291840"/>
        </p:xfrm>
        <a:graphic>
          <a:graphicData uri="http://schemas.openxmlformats.org/drawingml/2006/table">
            <a:tbl>
              <a:tblPr/>
              <a:tblGrid>
                <a:gridCol w="1737360"/>
                <a:gridCol w="2377440"/>
                <a:gridCol w="6949440"/>
              </a:tblGrid>
              <a:tr h="47026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4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Tecnología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4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Motivo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42"/>
                    </a:solidFill>
                  </a:tcPr>
                </a:tc>
              </a:tr>
              <a:tr h="47026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 móvil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Flutter (Dart)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solo código para iOS y Android; ideal para equipo chico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026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Backend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FastAPI (Python)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Endpoints rápidos, validación automática, docs Swagger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F4"/>
                    </a:solidFill>
                  </a:tcPr>
                </a:tc>
              </a:tr>
              <a:tr h="47026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de datos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PostgreSQL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Relacional, ajustada a datos interrelacionados del paciente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026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Autenticación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JWT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Distingue cuenta titular / perfiles dependientes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F4"/>
                    </a:solidFill>
                  </a:tcPr>
                </a:tc>
              </a:tr>
              <a:tr h="47026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Módulo 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 de LLM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Consultas básicas de síntomas, sin entrenar modelo propio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026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Diseño UI/UX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Figma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Definir pantallas y flujos antes de programar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F4"/>
                    </a:solidFill>
                  </a:tcPr>
                </a:tc>
              </a:tr>
            </a:tbl>
          </a:graphicData>
        </a:graphic>
      </p:graphicFrame>
      <p:sp>
        <p:nvSpPr>
          <p:cNvPr id="19" name="Text 16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Médico+  ·  Capstone_005D · Grupo 7  ·  PTY4614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3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Metodología de trabajo y roles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70432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ágil (Scrum), con sprints quincenales durante la Fase 2: Sprint Planning, seguimiento breve, demo de cierre y retrospectiva. Una historia se considera terminada (Definition of Done) cuando está integrada, probada y documentada en GitHub.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3520440" cy="411480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2011680"/>
            <a:ext cx="3520440" cy="822960"/>
          </a:xfrm>
          <a:prstGeom prst="roundRect">
            <a:avLst>
              <a:gd name="adj" fmla="val 11111"/>
            </a:avLst>
          </a:prstGeom>
          <a:solidFill>
            <a:srgbClr val="028090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423160"/>
            <a:ext cx="3520440" cy="4114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212140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Benjamín Leiva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450592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01752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+ FastAPI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429000"/>
            <a:ext cx="30632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REST, autenticación JWT, lógica de negocio, orquestación de la API de IA (consultas y manejo de errores) e integración de notificaciones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43400" y="2011680"/>
            <a:ext cx="3520440" cy="411480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343400" y="2011680"/>
            <a:ext cx="3520440" cy="822960"/>
          </a:xfrm>
          <a:prstGeom prst="roundRect">
            <a:avLst>
              <a:gd name="adj" fmla="val 11111"/>
            </a:avLst>
          </a:prstGeom>
          <a:solidFill>
            <a:srgbClr val="00A896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3400" y="2423160"/>
            <a:ext cx="3520440" cy="41148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0" y="212140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Sergio Ocares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2450592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 + IA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0" y="301752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/ API LLM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0" y="3429000"/>
            <a:ext cx="30632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Modelado de BD, indicadores y reportes de cumplimiento, define el contexto enviado a la IA y almacena sus resultados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138160" y="2011680"/>
            <a:ext cx="3520440" cy="411480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3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138160" y="2011680"/>
            <a:ext cx="3520440" cy="822960"/>
          </a:xfrm>
          <a:prstGeom prst="roundRect">
            <a:avLst>
              <a:gd name="adj" fmla="val 11111"/>
            </a:avLst>
          </a:prstGeom>
          <a:solidFill>
            <a:srgbClr val="02C39A"/>
          </a:solidFill>
          <a:ln/>
        </p:spPr>
      </p:sp>
      <p:sp>
        <p:nvSpPr>
          <p:cNvPr id="20" name="Shape 18"/>
          <p:cNvSpPr/>
          <p:nvPr/>
        </p:nvSpPr>
        <p:spPr>
          <a:xfrm>
            <a:off x="8138160" y="2423160"/>
            <a:ext cx="3520440" cy="41148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366760" y="212140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Matías Pizarro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366760" y="2450592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móvil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8366760" y="301752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Flutter / Dart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8366760" y="3429000"/>
            <a:ext cx="30632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Interfaz para titular y perfiles dependientes, experiencia de usuario accesible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Médico+  ·  Capstone_005D · Grupo 7  ·  PTY4614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3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de trabajo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1556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Semestre de 18 semanas · 3 fases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458720" cy="777240"/>
          </a:xfrm>
          <a:prstGeom prst="roundRect">
            <a:avLst>
              <a:gd name="adj" fmla="val 7059"/>
            </a:avLst>
          </a:prstGeom>
          <a:solidFill>
            <a:srgbClr val="02809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883664"/>
            <a:ext cx="227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94560"/>
            <a:ext cx="227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Definición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395728"/>
            <a:ext cx="227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– S4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007360" y="1828800"/>
            <a:ext cx="6761480" cy="777240"/>
          </a:xfrm>
          <a:prstGeom prst="roundRect">
            <a:avLst>
              <a:gd name="adj" fmla="val 7059"/>
            </a:avLst>
          </a:prstGeom>
          <a:solidFill>
            <a:srgbClr val="00A89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098800" y="1883664"/>
            <a:ext cx="6578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098800" y="2194560"/>
            <a:ext cx="657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Desarrollo (6 sprints)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3098800" y="2395728"/>
            <a:ext cx="657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S5 – S15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768840" y="1828800"/>
            <a:ext cx="1844040" cy="777240"/>
          </a:xfrm>
          <a:prstGeom prst="roundRect">
            <a:avLst>
              <a:gd name="adj" fmla="val 7059"/>
            </a:avLst>
          </a:prstGeom>
          <a:solidFill>
            <a:srgbClr val="02C39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860280" y="1883664"/>
            <a:ext cx="1661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9860280" y="2194560"/>
            <a:ext cx="1661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9860280" y="2395728"/>
            <a:ext cx="1661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S16 – S18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007360" y="1691640"/>
            <a:ext cx="0" cy="1051560"/>
          </a:xfrm>
          <a:prstGeom prst="line">
            <a:avLst/>
          </a:prstGeom>
          <a:noFill/>
          <a:ln w="25400">
            <a:solidFill>
              <a:srgbClr val="0B3D42"/>
            </a:solidFill>
            <a:prstDash val="dash"/>
          </a:ln>
        </p:spPr>
      </p:sp>
      <p:sp>
        <p:nvSpPr>
          <p:cNvPr id="17" name="Text 15"/>
          <p:cNvSpPr txBox="1"/>
          <p:nvPr/>
        </p:nvSpPr>
        <p:spPr>
          <a:xfrm>
            <a:off x="2367280" y="132588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Estamos aquí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8640" y="2971800"/>
            <a:ext cx="353568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85800" y="3044952"/>
            <a:ext cx="326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1 (S5-6)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3319272"/>
            <a:ext cx="326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Autenticación, modelo de datos, estructura base app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312920" y="2971800"/>
            <a:ext cx="353568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450080" y="3044952"/>
            <a:ext cx="326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2 (S7-8)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4450080" y="3319272"/>
            <a:ext cx="326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Medicamentos y rutinas: API + UI conectadas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8077200" y="2971800"/>
            <a:ext cx="353568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14360" y="3044952"/>
            <a:ext cx="326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3 (S9-10)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8214360" y="3319272"/>
            <a:ext cx="326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Perfiles dependientes y permisos · Informe de Avance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48640" y="3977640"/>
            <a:ext cx="353568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85800" y="4050792"/>
            <a:ext cx="326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4 (S11-12)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685800" y="4325112"/>
            <a:ext cx="326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Recordatorios, alertas e interfaz simplificada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312920" y="3977640"/>
            <a:ext cx="353568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450080" y="4050792"/>
            <a:ext cx="326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5 (S13-14)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4450080" y="4325112"/>
            <a:ext cx="326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de salud, módulo de IA y pantalla en casa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8077200" y="3977640"/>
            <a:ext cx="353568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214360" y="4050792"/>
            <a:ext cx="326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6 (S15)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8214360" y="4325112"/>
            <a:ext cx="326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Pulsera, detección de ruido, pruebas e Informe Final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52578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 facilitador: el equipo ya domina las tecnologías definidas. Principal obstáculo: coordinar horarios entre los tres integrantes — se mitiga con reuniones semanales fijas.</a:t>
            </a:r>
            <a:endParaRPr lang="en-US" sz="1150" dirty="0"/>
          </a:p>
        </p:txBody>
      </p:sp>
      <p:sp>
        <p:nvSpPr>
          <p:cNvPr id="37" name="Text 35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Médico+  ·  Capstone_005D · Grupo 7  ·  PTY4614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3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Evidencias planificadas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5349240" cy="502920"/>
          </a:xfrm>
          <a:prstGeom prst="roundRect">
            <a:avLst>
              <a:gd name="adj" fmla="val 12727"/>
            </a:avLst>
          </a:prstGeom>
          <a:solidFill>
            <a:srgbClr val="02809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28016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avance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53492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77240" y="2130552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 GitHub actualizado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24328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del módulo de autenticación, modelo de datos y estructura base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3931920"/>
            <a:ext cx="53492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77240" y="4096512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de Avance Proyecto APT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590288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del estado de desarrollo y objetivos/metodología ajustados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263640" y="1280160"/>
            <a:ext cx="5349240" cy="502920"/>
          </a:xfrm>
          <a:prstGeom prst="roundRect">
            <a:avLst>
              <a:gd name="adj" fmla="val 12727"/>
            </a:avLst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63640" y="128016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Finales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263640" y="1965960"/>
            <a:ext cx="53492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492240" y="2130552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funcional + backend (Docker)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2624328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Módulos del MVP integrados y operativos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3931920"/>
            <a:ext cx="53492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492240" y="4096512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Final + manual técnico + README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4590288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Documentación completa, arquitectura y despliegue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Fase 1 el proyecto está en etapa de definición y planificación; los indicadores de implementación se evidenciarán en Fase 2.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Médico+  ·  Capstone_005D · Grupo 7  ·  PTY4614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3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Factibilidad del proyecto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347472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50876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508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🕒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52704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14884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semanas de semestre, con 11 semanas de desarrollo intensivo en Fase 2</a:t>
            </a:r>
            <a:endParaRPr lang="en-US" sz="1080" dirty="0"/>
          </a:p>
        </p:txBody>
      </p:sp>
      <p:sp>
        <p:nvSpPr>
          <p:cNvPr id="8" name="Shape 6"/>
          <p:cNvSpPr/>
          <p:nvPr/>
        </p:nvSpPr>
        <p:spPr>
          <a:xfrm>
            <a:off x="4343400" y="1325880"/>
            <a:ext cx="347472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26280" y="150876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26280" y="1508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🎓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5166360" y="152704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asignadas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4526280" y="214884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CAPSTONE: 20 créditos (10 trabajo docente + 10 trabajo autónomo)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8138160" y="1325880"/>
            <a:ext cx="347472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321040" y="1508760"/>
            <a:ext cx="502920" cy="50292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21040" y="1508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🧰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8961120" y="152704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Materiales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214884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Equipos propios y librerías open source (Flutter, FastAPI, PostgreSQL, Docker) — sin costo de licencias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548640" y="3657600"/>
            <a:ext cx="347472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31520" y="384048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31520" y="3840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385876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favor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731520" y="448056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equipo ya maneja las tecnologías definidas y cuenta con roles claros por módulo</a:t>
            </a:r>
            <a:endParaRPr lang="en-US" sz="1080" dirty="0"/>
          </a:p>
        </p:txBody>
      </p:sp>
      <p:sp>
        <p:nvSpPr>
          <p:cNvPr id="23" name="Shape 21"/>
          <p:cNvSpPr/>
          <p:nvPr/>
        </p:nvSpPr>
        <p:spPr>
          <a:xfrm>
            <a:off x="4343400" y="3657600"/>
            <a:ext cx="347472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526280" y="384048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526280" y="3840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5166360" y="385876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4526280" y="448056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Coordinación de horarios y curva de aprendizaje del módulo de IA</a:t>
            </a:r>
            <a:endParaRPr lang="en-US" sz="1080" dirty="0"/>
          </a:p>
        </p:txBody>
      </p:sp>
      <p:sp>
        <p:nvSpPr>
          <p:cNvPr id="28" name="Shape 26"/>
          <p:cNvSpPr/>
          <p:nvPr/>
        </p:nvSpPr>
        <p:spPr>
          <a:xfrm>
            <a:off x="8138160" y="3657600"/>
            <a:ext cx="347472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321040" y="3840480"/>
            <a:ext cx="502920" cy="50292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321040" y="3840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🛡️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8961120" y="385876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Mitigación</a:t>
            </a:r>
            <a:endParaRPr lang="en-US" sz="1350" dirty="0"/>
          </a:p>
        </p:txBody>
      </p:sp>
      <p:sp>
        <p:nvSpPr>
          <p:cNvPr id="32" name="Text 30"/>
          <p:cNvSpPr txBox="1"/>
          <p:nvPr/>
        </p:nvSpPr>
        <p:spPr>
          <a:xfrm>
            <a:off x="8321040" y="448056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Reuniones semanales fijas; IA como funcionalidad de menor prioridad en el backlog</a:t>
            </a:r>
            <a:endParaRPr lang="en-US" sz="108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Médico+  ·  Capstone_005D · Grupo 7  ·  PTY4614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3D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1645920"/>
            <a:ext cx="5486400" cy="5486400"/>
          </a:xfrm>
          <a:prstGeom prst="ellipse">
            <a:avLst/>
          </a:prstGeom>
          <a:solidFill>
            <a:srgbClr val="028090">
              <a:alpha val="28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103120"/>
            <a:ext cx="9601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Perfil Médico+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06324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Planificar → Recordar → Confirmar → Monitorear → Alertar → Acompañar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931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Muchas gracias — preguntas y comentarios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53949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C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github.com/Bvnjvmin/Perfil-Medico-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57150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Benjamín Leiva  ·  Sergio Ocares  ·  Matías Pizarro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2026-09-04T00:16:58Z</dcterms:created>
  <dcterms:modified xsi:type="dcterms:W3CDTF">2026-09-04T00:16:58Z</dcterms:modified>
</cp:coreProperties>
</file>